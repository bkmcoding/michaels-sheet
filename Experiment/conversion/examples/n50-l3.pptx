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43"/>
  </p:notesMasterIdLst>
  <p:handoutMasterIdLst>
    <p:handoutMasterId r:id="rId44"/>
  </p:handoutMasterIdLst>
  <p:sldIdLst>
    <p:sldId id="280" r:id="rId2"/>
    <p:sldId id="316" r:id="rId3"/>
    <p:sldId id="264" r:id="rId4"/>
    <p:sldId id="268" r:id="rId5"/>
    <p:sldId id="269" r:id="rId6"/>
    <p:sldId id="270" r:id="rId7"/>
    <p:sldId id="271" r:id="rId8"/>
    <p:sldId id="272" r:id="rId9"/>
    <p:sldId id="273" r:id="rId10"/>
    <p:sldId id="274" r:id="rId11"/>
    <p:sldId id="275" r:id="rId12"/>
    <p:sldId id="279" r:id="rId13"/>
    <p:sldId id="281" r:id="rId14"/>
    <p:sldId id="282" r:id="rId15"/>
    <p:sldId id="284" r:id="rId16"/>
    <p:sldId id="287" r:id="rId17"/>
    <p:sldId id="289" r:id="rId18"/>
    <p:sldId id="290" r:id="rId19"/>
    <p:sldId id="292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17" r:id="rId30"/>
    <p:sldId id="305" r:id="rId31"/>
    <p:sldId id="306" r:id="rId32"/>
    <p:sldId id="307" r:id="rId33"/>
    <p:sldId id="308" r:id="rId34"/>
    <p:sldId id="309" r:id="rId35"/>
    <p:sldId id="310" r:id="rId36"/>
    <p:sldId id="311" r:id="rId37"/>
    <p:sldId id="318" r:id="rId38"/>
    <p:sldId id="312" r:id="rId39"/>
    <p:sldId id="313" r:id="rId40"/>
    <p:sldId id="314" r:id="rId41"/>
    <p:sldId id="315" r:id="rId4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202508" initials="S" lastIdx="4" clrIdx="0"/>
  <p:cmAuthor id="1" name="pg4701" initials="p" lastIdx="2" clrIdx="1"/>
  <p:cmAuthor id="2" name="Reed Elsevier" initials="RE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7417" autoAdjust="0"/>
  </p:normalViewPr>
  <p:slideViewPr>
    <p:cSldViewPr>
      <p:cViewPr varScale="1">
        <p:scale>
          <a:sx n="67" d="100"/>
          <a:sy n="67" d="100"/>
        </p:scale>
        <p:origin x="165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8159E-C62F-5743-99ED-967B5ECDC992}" type="datetimeFigureOut">
              <a:rPr lang="en-US" smtClean="0"/>
              <a:t>5/19/2018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F9CC06-6195-E546-8A5F-6B1C50AF25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3889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F6D323-1B29-4B5B-BD30-0BD440BD2066}" type="datetimeFigureOut">
              <a:rPr lang="en-US" smtClean="0"/>
              <a:pPr/>
              <a:t>5/19/2018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E3875-EA1B-4397-A3BC-D7D9814E123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6120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E4A7-A78D-4F10-9A58-BF890A925384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9302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2E3875-EA1B-4397-A3BC-D7D9814E1237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5722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2E3875-EA1B-4397-A3BC-D7D9814E123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408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2E3875-EA1B-4397-A3BC-D7D9814E123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506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2E3875-EA1B-4397-A3BC-D7D9814E123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4863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CF47B5-3742-4F81-A76E-A934DDA87BF8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549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CF47B5-3742-4F81-A76E-A934DDA87BF8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5490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CF47B5-3742-4F81-A76E-A934DDA87BF8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62545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CF47B5-3742-4F81-A76E-A934DDA87BF8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1989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CF47B5-3742-4F81-A76E-A934DDA87BF8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0397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CF47B5-3742-4F81-A76E-A934DDA87BF8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4246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CF47B5-3742-4F81-A76E-A934DDA87BF8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09779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1CF47B5-3742-4F81-A76E-A934DDA87BF8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6072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D8E4A7-A78D-4F10-9A58-BF890A92538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9302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FD2F5-9E01-44F9-BB6C-9CCBD4C7CBE3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415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FD2F5-9E01-44F9-BB6C-9CCBD4C7CBE3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23496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FD2F5-9E01-44F9-BB6C-9CCBD4C7CBE3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6117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endParaRPr lang="en-US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FD2F5-9E01-44F9-BB6C-9CCBD4C7CBE3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38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FD2F5-9E01-44F9-BB6C-9CCBD4C7CBE3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4329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FD2F5-9E01-44F9-BB6C-9CCBD4C7CBE3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43298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FD2F5-9E01-44F9-BB6C-9CCBD4C7CBE3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22192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FD2F5-9E01-44F9-BB6C-9CCBD4C7CBE3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4375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0FD2F5-9E01-44F9-BB6C-9CCBD4C7CBE3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637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0"/>
          <p:cNvGrpSpPr/>
          <p:nvPr/>
        </p:nvGrpSpPr>
        <p:grpSpPr>
          <a:xfrm>
            <a:off x="-1" y="3379694"/>
            <a:ext cx="7543801" cy="2604247"/>
            <a:chOff x="-1" y="3379694"/>
            <a:chExt cx="7543801" cy="2604247"/>
          </a:xfrm>
        </p:grpSpPr>
        <p:grpSp>
          <p:nvGrpSpPr>
            <p:cNvPr id="9" name="Group 11"/>
            <p:cNvGrpSpPr/>
            <p:nvPr/>
          </p:nvGrpSpPr>
          <p:grpSpPr>
            <a:xfrm>
              <a:off x="-1" y="3379694"/>
              <a:ext cx="7543801" cy="2604247"/>
              <a:chOff x="-1" y="3379694"/>
              <a:chExt cx="7543801" cy="2604247"/>
            </a:xfrm>
          </p:grpSpPr>
          <p:sp>
            <p:nvSpPr>
              <p:cNvPr id="15" name="Snip Single Corner Rectangle 14"/>
              <p:cNvSpPr/>
              <p:nvPr/>
            </p:nvSpPr>
            <p:spPr>
              <a:xfrm flipV="1">
                <a:off x="-1" y="3393141"/>
                <a:ext cx="7543800" cy="2590800"/>
              </a:xfrm>
              <a:prstGeom prst="snip1Rect">
                <a:avLst>
                  <a:gd name="adj" fmla="val 737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6" name="Straight Connector 15"/>
              <p:cNvCxnSpPr/>
              <p:nvPr/>
            </p:nvCxnSpPr>
            <p:spPr>
              <a:xfrm>
                <a:off x="0" y="3379694"/>
                <a:ext cx="7543800" cy="237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ardrop 12"/>
            <p:cNvSpPr/>
            <p:nvPr/>
          </p:nvSpPr>
          <p:spPr>
            <a:xfrm>
              <a:off x="6817659" y="3621741"/>
              <a:ext cx="394447" cy="394447"/>
            </a:xfrm>
            <a:prstGeom prst="teardrop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913281"/>
            <a:ext cx="5867400" cy="1470025"/>
          </a:xfrm>
        </p:spPr>
        <p:txBody>
          <a:bodyPr>
            <a:normAutofit/>
          </a:bodyPr>
          <a:lstStyle>
            <a:lvl1pPr algn="r">
              <a:defRPr sz="4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396753"/>
            <a:ext cx="5867400" cy="573741"/>
          </a:xfrm>
        </p:spPr>
        <p:txBody>
          <a:bodyPr>
            <a:normAutofit/>
          </a:bodyPr>
          <a:lstStyle>
            <a:lvl1pPr marL="0" indent="0" algn="r">
              <a:spcBef>
                <a:spcPct val="0"/>
              </a:spcBef>
              <a:buNone/>
              <a:defRPr sz="1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-734076" y="4503737"/>
            <a:ext cx="2057400" cy="365125"/>
          </a:xfrm>
        </p:spPr>
        <p:txBody>
          <a:bodyPr lIns="91440" tIns="0" bIns="0" anchor="b" anchorCtr="0"/>
          <a:lstStyle>
            <a:lvl1pPr>
              <a:defRPr sz="1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C8406960-E86C-5648-AE75-8D1FB7716307}" type="datetime1">
              <a:rPr lang="en-US" smtClean="0"/>
              <a:t>5/19/2018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-356811" y="4503737"/>
            <a:ext cx="2057397" cy="365125"/>
          </a:xfrm>
        </p:spPr>
        <p:txBody>
          <a:bodyPr lIns="91440" tIns="0" bIns="0" anchor="t" anchorCtr="0"/>
          <a:lstStyle>
            <a:lvl1pPr algn="l">
              <a:defRPr b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altLang="en-US">
                <a:solidFill>
                  <a:schemeClr val="tx1"/>
                </a:solidFill>
              </a:rPr>
              <a:t>Copyright © 2017 by Saunders, an imprint of Elsevier Inc.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8"/>
          <p:cNvSpPr/>
          <p:nvPr/>
        </p:nvSpPr>
        <p:spPr>
          <a:xfrm flipV="1">
            <a:off x="228600" y="1707776"/>
            <a:ext cx="8686800" cy="4908176"/>
          </a:xfrm>
          <a:prstGeom prst="snip2DiagRect">
            <a:avLst>
              <a:gd name="adj1" fmla="val 0"/>
              <a:gd name="adj2" fmla="val 4003"/>
            </a:avLst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nip Diagonal Corner Rectangle 9"/>
          <p:cNvSpPr/>
          <p:nvPr/>
        </p:nvSpPr>
        <p:spPr>
          <a:xfrm flipV="1">
            <a:off x="228600" y="228597"/>
            <a:ext cx="8686800" cy="1277473"/>
          </a:xfrm>
          <a:prstGeom prst="snip2DiagRect">
            <a:avLst>
              <a:gd name="adj1" fmla="val 0"/>
              <a:gd name="adj2" fmla="val 11674"/>
            </a:avLst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14774A-E3A1-3D48-8A29-C4663C2D9255}" type="datetime1">
              <a:rPr lang="en-US" smtClean="0"/>
              <a:t>5/19/2018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by Saunders, an imprint of Elsevier Inc.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14"/>
          <p:cNvGrpSpPr/>
          <p:nvPr/>
        </p:nvGrpSpPr>
        <p:grpSpPr>
          <a:xfrm>
            <a:off x="-1" y="3379694"/>
            <a:ext cx="7543801" cy="2604247"/>
            <a:chOff x="-1" y="3379694"/>
            <a:chExt cx="7543801" cy="2604247"/>
          </a:xfrm>
        </p:grpSpPr>
        <p:grpSp>
          <p:nvGrpSpPr>
            <p:cNvPr id="9" name="Group 11"/>
            <p:cNvGrpSpPr/>
            <p:nvPr/>
          </p:nvGrpSpPr>
          <p:grpSpPr>
            <a:xfrm>
              <a:off x="-1" y="3379694"/>
              <a:ext cx="7543801" cy="2604247"/>
              <a:chOff x="-1" y="3379694"/>
              <a:chExt cx="7543801" cy="2604247"/>
            </a:xfrm>
          </p:grpSpPr>
          <p:sp>
            <p:nvSpPr>
              <p:cNvPr id="17" name="Snip Single Corner Rectangle 16"/>
              <p:cNvSpPr/>
              <p:nvPr/>
            </p:nvSpPr>
            <p:spPr>
              <a:xfrm flipV="1">
                <a:off x="-1" y="3393141"/>
                <a:ext cx="7543800" cy="2590800"/>
              </a:xfrm>
              <a:prstGeom prst="snip1Rect">
                <a:avLst>
                  <a:gd name="adj" fmla="val 737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8" name="Straight Connector 17"/>
              <p:cNvCxnSpPr/>
              <p:nvPr/>
            </p:nvCxnSpPr>
            <p:spPr>
              <a:xfrm>
                <a:off x="0" y="3379694"/>
                <a:ext cx="7543800" cy="237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" name="Teardrop 15"/>
            <p:cNvSpPr/>
            <p:nvPr/>
          </p:nvSpPr>
          <p:spPr>
            <a:xfrm>
              <a:off x="6817659" y="3621741"/>
              <a:ext cx="394447" cy="394447"/>
            </a:xfrm>
            <a:prstGeom prst="teardrop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3913281"/>
            <a:ext cx="5867400" cy="1470025"/>
          </a:xfrm>
        </p:spPr>
        <p:txBody>
          <a:bodyPr>
            <a:normAutofit/>
          </a:bodyPr>
          <a:lstStyle>
            <a:lvl1pPr algn="r">
              <a:defRPr sz="46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5396753"/>
            <a:ext cx="5867400" cy="573741"/>
          </a:xfrm>
        </p:spPr>
        <p:txBody>
          <a:bodyPr>
            <a:normAutofit/>
          </a:bodyPr>
          <a:lstStyle>
            <a:lvl1pPr marL="0" indent="0" algn="r">
              <a:spcBef>
                <a:spcPct val="0"/>
              </a:spcBef>
              <a:buNone/>
              <a:defRPr sz="14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-734076" y="4503737"/>
            <a:ext cx="2057400" cy="365125"/>
          </a:xfrm>
        </p:spPr>
        <p:txBody>
          <a:bodyPr lIns="91440" tIns="0" bIns="0" anchor="b" anchorCtr="0"/>
          <a:lstStyle>
            <a:lvl1pPr>
              <a:defRPr sz="14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38792FD3-9FE5-4A46-AF54-0CE21951BD61}" type="datetime1">
              <a:rPr lang="en-US" smtClean="0"/>
              <a:t>5/19/2018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-356811" y="4503737"/>
            <a:ext cx="2057397" cy="365125"/>
          </a:xfrm>
        </p:spPr>
        <p:txBody>
          <a:bodyPr lIns="91440" tIns="0" bIns="0" anchor="t" anchorCtr="0"/>
          <a:lstStyle>
            <a:lvl1pPr algn="l">
              <a:defRPr b="1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 altLang="en-US">
                <a:solidFill>
                  <a:schemeClr val="tx1"/>
                </a:solidFill>
              </a:rPr>
              <a:t>Copyright © 2017 by Saunders, an imprint of Elsevier Inc.</a:t>
            </a:r>
            <a:endParaRPr lang="en-US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2"/>
          </p:nvPr>
        </p:nvSpPr>
        <p:spPr>
          <a:xfrm>
            <a:off x="0" y="676835"/>
            <a:ext cx="7543800" cy="2587752"/>
          </a:xfrm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 flipH="1">
            <a:off x="1600199" y="2126877"/>
            <a:ext cx="7543801" cy="2604247"/>
            <a:chOff x="-1" y="3379694"/>
            <a:chExt cx="7543801" cy="2604247"/>
          </a:xfrm>
        </p:grpSpPr>
        <p:grpSp>
          <p:nvGrpSpPr>
            <p:cNvPr id="7" name="Group 11"/>
            <p:cNvGrpSpPr/>
            <p:nvPr/>
          </p:nvGrpSpPr>
          <p:grpSpPr>
            <a:xfrm>
              <a:off x="-1" y="3379694"/>
              <a:ext cx="7543801" cy="2604247"/>
              <a:chOff x="-1" y="3379694"/>
              <a:chExt cx="7543801" cy="2604247"/>
            </a:xfrm>
          </p:grpSpPr>
          <p:sp>
            <p:nvSpPr>
              <p:cNvPr id="10" name="Snip Single Corner Rectangle 9"/>
              <p:cNvSpPr/>
              <p:nvPr/>
            </p:nvSpPr>
            <p:spPr>
              <a:xfrm flipV="1">
                <a:off x="-1" y="3393141"/>
                <a:ext cx="7543800" cy="2590800"/>
              </a:xfrm>
              <a:prstGeom prst="snip1Rect">
                <a:avLst>
                  <a:gd name="adj" fmla="val 7379"/>
                </a:avLst>
              </a:prstGeom>
              <a:solidFill>
                <a:schemeClr val="bg1"/>
              </a:solidFill>
              <a:ln>
                <a:noFill/>
              </a:ln>
              <a:effectLst>
                <a:outerShdw blurRad="50800" dist="63500" dir="2700000" algn="tl" rotWithShape="0">
                  <a:prstClr val="black">
                    <a:alpha val="5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cxnSp>
            <p:nvCxnSpPr>
              <p:cNvPr id="11" name="Straight Connector 10"/>
              <p:cNvCxnSpPr/>
              <p:nvPr/>
            </p:nvCxnSpPr>
            <p:spPr>
              <a:xfrm>
                <a:off x="0" y="3379694"/>
                <a:ext cx="7543800" cy="2377"/>
              </a:xfrm>
              <a:prstGeom prst="line">
                <a:avLst/>
              </a:prstGeom>
              <a:ln w="28575"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Teardrop 8"/>
            <p:cNvSpPr/>
            <p:nvPr/>
          </p:nvSpPr>
          <p:spPr>
            <a:xfrm flipH="1">
              <a:off x="228599" y="3621741"/>
              <a:ext cx="394447" cy="394447"/>
            </a:xfrm>
            <a:prstGeom prst="teardrop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6105" y="2653553"/>
            <a:ext cx="5870448" cy="1472184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600" kern="12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6105" y="4134881"/>
            <a:ext cx="5870448" cy="57607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buClr>
                <a:schemeClr val="accent1"/>
              </a:buClr>
              <a:buSzPct val="90000"/>
              <a:buFont typeface="Wingdings 2" pitchFamily="18" charset="2"/>
              <a:buNone/>
              <a:defRPr sz="14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8033590" y="3475037"/>
            <a:ext cx="1828801" cy="365125"/>
          </a:xfrm>
        </p:spPr>
        <p:txBody>
          <a:bodyPr vert="horz" lIns="91440" tIns="0" rIns="91440" bIns="0" rtlCol="0" anchor="t" anchorCtr="0"/>
          <a:lstStyle>
            <a:lvl1pPr marL="0" algn="l" defTabSz="914400" rtl="0" eaLnBrk="1" latinLnBrk="0" hangingPunct="1">
              <a:defRPr sz="1100" b="1" kern="120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Copyright © 2017 by Saunders, an imprint of Elsevier Inc.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7658009" y="3475037"/>
            <a:ext cx="1828800" cy="365125"/>
          </a:xfrm>
        </p:spPr>
        <p:txBody>
          <a:bodyPr vert="horz" lIns="91440" tIns="0" rIns="91440" bIns="0" rtlCol="0" anchor="b" anchorCtr="0"/>
          <a:lstStyle>
            <a:lvl1pPr marL="0" algn="l" defTabSz="914400" rtl="0" eaLnBrk="1" latinLnBrk="0" hangingPunct="1">
              <a:defRPr sz="1400" b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44B7DFC8-FA2E-0747-94C3-9D7E49910935}" type="datetime1">
              <a:rPr lang="en-US" smtClean="0"/>
              <a:t>5/19/2018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nip Diagonal Corner Rectangle 10"/>
          <p:cNvSpPr/>
          <p:nvPr/>
        </p:nvSpPr>
        <p:spPr>
          <a:xfrm flipV="1">
            <a:off x="228600" y="1707776"/>
            <a:ext cx="8686800" cy="4908176"/>
          </a:xfrm>
          <a:prstGeom prst="snip2DiagRect">
            <a:avLst>
              <a:gd name="adj1" fmla="val 0"/>
              <a:gd name="adj2" fmla="val 4003"/>
            </a:avLst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Snip Diagonal Corner Rectangle 11"/>
          <p:cNvSpPr/>
          <p:nvPr/>
        </p:nvSpPr>
        <p:spPr>
          <a:xfrm flipV="1">
            <a:off x="228600" y="228597"/>
            <a:ext cx="8686800" cy="1277473"/>
          </a:xfrm>
          <a:prstGeom prst="snip2DiagRect">
            <a:avLst>
              <a:gd name="adj1" fmla="val 0"/>
              <a:gd name="adj2" fmla="val 11674"/>
            </a:avLst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95833"/>
            <a:ext cx="7583488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79461" y="1981201"/>
            <a:ext cx="365760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800"/>
            </a:lvl6pPr>
            <a:lvl7pPr marL="2055813" indent="-344488">
              <a:defRPr sz="1800"/>
            </a:lvl7pPr>
            <a:lvl8pPr marL="2055813" indent="-344488">
              <a:defRPr sz="1800"/>
            </a:lvl8pPr>
            <a:lvl9pPr marL="2055813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5351" y="1981201"/>
            <a:ext cx="365760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1946275" indent="-344488">
              <a:defRPr sz="1800"/>
            </a:lvl6pPr>
            <a:lvl7pPr marL="1946275" indent="-344488">
              <a:defRPr sz="1800"/>
            </a:lvl7pPr>
            <a:lvl8pPr marL="1946275" indent="-344488">
              <a:defRPr sz="1800"/>
            </a:lvl8pPr>
            <a:lvl9pPr marL="1946275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92826-047A-AA4B-939A-A8529F7E1147}" type="datetime1">
              <a:rPr lang="en-US" smtClean="0"/>
              <a:t>5/19/2018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Copyright © 2017 by Saunders, an imprint of Elsevier Inc.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nip Diagonal Corner Rectangle 11"/>
          <p:cNvSpPr/>
          <p:nvPr/>
        </p:nvSpPr>
        <p:spPr>
          <a:xfrm flipV="1">
            <a:off x="228600" y="1707776"/>
            <a:ext cx="8686800" cy="4908176"/>
          </a:xfrm>
          <a:prstGeom prst="snip2DiagRect">
            <a:avLst>
              <a:gd name="adj1" fmla="val 0"/>
              <a:gd name="adj2" fmla="val 4003"/>
            </a:avLst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nip Diagonal Corner Rectangle 12"/>
          <p:cNvSpPr/>
          <p:nvPr/>
        </p:nvSpPr>
        <p:spPr>
          <a:xfrm flipV="1">
            <a:off x="228600" y="228597"/>
            <a:ext cx="8686800" cy="1277473"/>
          </a:xfrm>
          <a:prstGeom prst="snip2DiagRect">
            <a:avLst>
              <a:gd name="adj1" fmla="val 0"/>
              <a:gd name="adj2" fmla="val 11674"/>
            </a:avLst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95833"/>
            <a:ext cx="758348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3" y="1852426"/>
            <a:ext cx="3657600" cy="868362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ct val="0"/>
              </a:spcBef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79463" y="2743200"/>
            <a:ext cx="3657600" cy="32131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800"/>
            </a:lvl6pPr>
            <a:lvl7pPr marL="2055813" indent="-344488">
              <a:defRPr sz="1800"/>
            </a:lvl7pPr>
            <a:lvl8pPr marL="2055813" indent="-344488">
              <a:defRPr sz="1800"/>
            </a:lvl8pPr>
            <a:lvl9pPr marL="2055813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5351" y="1852426"/>
            <a:ext cx="3657600" cy="868362"/>
          </a:xfrm>
        </p:spPr>
        <p:txBody>
          <a:bodyPr anchor="ctr" anchorCtr="0">
            <a:noAutofit/>
          </a:bodyPr>
          <a:lstStyle>
            <a:lvl1pPr marL="0" indent="0" algn="ctr">
              <a:spcBef>
                <a:spcPct val="0"/>
              </a:spcBef>
              <a:buNone/>
              <a:defRPr sz="26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5351" y="2743200"/>
            <a:ext cx="3657600" cy="32131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 marL="2055813" indent="-344488">
              <a:defRPr sz="1800"/>
            </a:lvl6pPr>
            <a:lvl7pPr marL="2055813" indent="-344488">
              <a:defRPr sz="1800"/>
            </a:lvl7pPr>
            <a:lvl8pPr marL="2055813" indent="-344488">
              <a:defRPr sz="1800"/>
            </a:lvl8pPr>
            <a:lvl9pPr marL="2055813" indent="-344488"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8A887-F77D-2543-9B5C-CF8A1C4911BC}" type="datetime1">
              <a:rPr lang="en-US" smtClean="0"/>
              <a:t>5/19/2018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by Saunders, an imprint of Elsevier Inc.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8"/>
          <p:cNvSpPr/>
          <p:nvPr/>
        </p:nvSpPr>
        <p:spPr>
          <a:xfrm flipV="1">
            <a:off x="228600" y="1707776"/>
            <a:ext cx="8686800" cy="4908176"/>
          </a:xfrm>
          <a:prstGeom prst="snip2DiagRect">
            <a:avLst>
              <a:gd name="adj1" fmla="val 0"/>
              <a:gd name="adj2" fmla="val 4003"/>
            </a:avLst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nip Diagonal Corner Rectangle 9"/>
          <p:cNvSpPr/>
          <p:nvPr/>
        </p:nvSpPr>
        <p:spPr>
          <a:xfrm flipV="1">
            <a:off x="228600" y="228597"/>
            <a:ext cx="8686800" cy="1277473"/>
          </a:xfrm>
          <a:prstGeom prst="snip2DiagRect">
            <a:avLst>
              <a:gd name="adj1" fmla="val 0"/>
              <a:gd name="adj2" fmla="val 11674"/>
            </a:avLst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3446D4-AFA7-1A4E-B183-F5ED60D19C9C}" type="datetime1">
              <a:rPr lang="en-US" smtClean="0"/>
              <a:t>5/19/2018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by Saunders, an imprint of Elsevier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nip Diagonal Corner Rectangle 5"/>
          <p:cNvSpPr/>
          <p:nvPr/>
        </p:nvSpPr>
        <p:spPr>
          <a:xfrm flipV="1">
            <a:off x="228600" y="228600"/>
            <a:ext cx="8686800" cy="6387352"/>
          </a:xfrm>
          <a:prstGeom prst="snip2DiagRect">
            <a:avLst>
              <a:gd name="adj1" fmla="val 0"/>
              <a:gd name="adj2" fmla="val 2529"/>
            </a:avLst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F17AFB-48DC-8A4C-BFDE-6C905BE22C23}" type="datetime1">
              <a:rPr lang="en-US" smtClean="0"/>
              <a:t>5/19/2018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by Saunders, an imprint of Elsevier Inc.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228600" y="228600"/>
            <a:ext cx="4251960" cy="6387352"/>
            <a:chOff x="228600" y="228600"/>
            <a:chExt cx="4251960" cy="6387352"/>
          </a:xfrm>
        </p:grpSpPr>
        <p:sp>
          <p:nvSpPr>
            <p:cNvPr id="13" name="Snip Diagonal Corner Rectangle 12"/>
            <p:cNvSpPr/>
            <p:nvPr/>
          </p:nvSpPr>
          <p:spPr>
            <a:xfrm flipV="1">
              <a:off x="228600" y="228600"/>
              <a:ext cx="4251960" cy="6387352"/>
            </a:xfrm>
            <a:prstGeom prst="snip2DiagRect">
              <a:avLst>
                <a:gd name="adj1" fmla="val 0"/>
                <a:gd name="adj2" fmla="val 3794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ardrop 13"/>
            <p:cNvSpPr>
              <a:spLocks noChangeAspect="1"/>
            </p:cNvSpPr>
            <p:nvPr/>
          </p:nvSpPr>
          <p:spPr>
            <a:xfrm>
              <a:off x="3886200" y="432548"/>
              <a:ext cx="355002" cy="355002"/>
            </a:xfrm>
            <a:prstGeom prst="teardrop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5" name="Snip Diagonal Corner Rectangle 14"/>
          <p:cNvSpPr/>
          <p:nvPr/>
        </p:nvSpPr>
        <p:spPr>
          <a:xfrm flipV="1">
            <a:off x="4648200" y="228600"/>
            <a:ext cx="4251960" cy="6387352"/>
          </a:xfrm>
          <a:prstGeom prst="snip2DiagRect">
            <a:avLst>
              <a:gd name="adj1" fmla="val 0"/>
              <a:gd name="adj2" fmla="val 3794"/>
            </a:avLst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5780" y="2177303"/>
            <a:ext cx="3657600" cy="1162050"/>
          </a:xfrm>
        </p:spPr>
        <p:txBody>
          <a:bodyPr anchor="b">
            <a:normAutofit/>
          </a:bodyPr>
          <a:lstStyle>
            <a:lvl1pPr algn="l">
              <a:defRPr sz="30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45380" y="609600"/>
            <a:ext cx="3657600" cy="53340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5780" y="3352799"/>
            <a:ext cx="3657600" cy="2590801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2000" y="6297706"/>
            <a:ext cx="1295400" cy="365125"/>
          </a:xfrm>
        </p:spPr>
        <p:txBody>
          <a:bodyPr/>
          <a:lstStyle/>
          <a:p>
            <a:fld id="{F2CB8588-3499-A04D-8313-27A8DE28ADAB}" type="datetime1">
              <a:rPr lang="en-US" smtClean="0"/>
              <a:t>5/19/2018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057400" y="6297706"/>
            <a:ext cx="2339788" cy="365125"/>
          </a:xfrm>
        </p:spPr>
        <p:txBody>
          <a:bodyPr/>
          <a:lstStyle/>
          <a:p>
            <a:r>
              <a:rPr lang="en-US"/>
              <a:t>Copyright © 2017 by Saunders, an imprint of Elsevier Inc.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04800" y="6297706"/>
            <a:ext cx="443753" cy="365125"/>
          </a:xfrm>
        </p:spPr>
        <p:txBody>
          <a:bodyPr/>
          <a:lstStyle>
            <a:lvl1pPr algn="l">
              <a:defRPr/>
            </a:lvl1pPr>
          </a:lstStyle>
          <a:p>
            <a:fld id="{A92DECB8-B2AB-4217-BB8D-B4B27DCE6E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0"/>
          <p:cNvGrpSpPr/>
          <p:nvPr/>
        </p:nvGrpSpPr>
        <p:grpSpPr>
          <a:xfrm>
            <a:off x="228600" y="228600"/>
            <a:ext cx="4251960" cy="6387352"/>
            <a:chOff x="228600" y="228600"/>
            <a:chExt cx="4251960" cy="6387352"/>
          </a:xfrm>
        </p:grpSpPr>
        <p:sp>
          <p:nvSpPr>
            <p:cNvPr id="12" name="Snip Diagonal Corner Rectangle 11"/>
            <p:cNvSpPr/>
            <p:nvPr/>
          </p:nvSpPr>
          <p:spPr>
            <a:xfrm flipV="1">
              <a:off x="228600" y="228600"/>
              <a:ext cx="4251960" cy="6387352"/>
            </a:xfrm>
            <a:prstGeom prst="snip2DiagRect">
              <a:avLst>
                <a:gd name="adj1" fmla="val 0"/>
                <a:gd name="adj2" fmla="val 3794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63500" dir="2700000" algn="tl" rotWithShape="0">
                <a:prstClr val="black">
                  <a:alpha val="5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ardrop 12"/>
            <p:cNvSpPr>
              <a:spLocks noChangeAspect="1"/>
            </p:cNvSpPr>
            <p:nvPr/>
          </p:nvSpPr>
          <p:spPr>
            <a:xfrm>
              <a:off x="3886200" y="432548"/>
              <a:ext cx="355002" cy="355002"/>
            </a:xfrm>
            <a:prstGeom prst="teardrop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2176272"/>
            <a:ext cx="3657600" cy="1161288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flipH="1">
            <a:off x="4654475" y="228600"/>
            <a:ext cx="4251960" cy="6391656"/>
          </a:xfrm>
          <a:prstGeom prst="snip2DiagRect">
            <a:avLst>
              <a:gd name="adj1" fmla="val 0"/>
              <a:gd name="adj2" fmla="val 4017"/>
            </a:avLst>
          </a:prstGeom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90000"/>
              <a:buFont typeface="Wingdings 2" pitchFamily="18" charset="2"/>
              <a:buNone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0352" y="3342401"/>
            <a:ext cx="3657600" cy="2595282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buNone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58952" y="6300216"/>
            <a:ext cx="1298448" cy="365125"/>
          </a:xfrm>
        </p:spPr>
        <p:txBody>
          <a:bodyPr/>
          <a:lstStyle/>
          <a:p>
            <a:fld id="{42EAA8F4-2E73-B844-80D4-D897390026ED}" type="datetime1">
              <a:rPr lang="en-US" smtClean="0"/>
              <a:t>5/19/2018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057400" y="6300216"/>
            <a:ext cx="2340864" cy="365125"/>
          </a:xfrm>
        </p:spPr>
        <p:txBody>
          <a:bodyPr/>
          <a:lstStyle/>
          <a:p>
            <a:r>
              <a:rPr lang="en-US"/>
              <a:t>Copyright © 2017 by Saunders, an imprint of Elsevier Inc.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01752" y="6300216"/>
            <a:ext cx="448056" cy="365125"/>
          </a:xfrm>
        </p:spPr>
        <p:txBody>
          <a:bodyPr/>
          <a:lstStyle>
            <a:lvl1pPr algn="l">
              <a:defRPr/>
            </a:lvl1pPr>
          </a:lstStyle>
          <a:p>
            <a:fld id="{A92DECB8-B2AB-4217-BB8D-B4B27DCE6E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8"/>
          <p:cNvSpPr/>
          <p:nvPr/>
        </p:nvSpPr>
        <p:spPr>
          <a:xfrm flipV="1">
            <a:off x="228600" y="4648200"/>
            <a:ext cx="8686800" cy="1963271"/>
          </a:xfrm>
          <a:prstGeom prst="snip2DiagRect">
            <a:avLst>
              <a:gd name="adj1" fmla="val 0"/>
              <a:gd name="adj2" fmla="val 9373"/>
            </a:avLst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48200"/>
            <a:ext cx="8153400" cy="609600"/>
          </a:xfrm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19853-DBFC-8644-A2DC-850570C3EC2B}" type="datetime1">
              <a:rPr lang="en-US" smtClean="0"/>
              <a:t>5/19/2018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Copyright © 2017 by Saunders, an imprint of Elsevier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5257799"/>
            <a:ext cx="8156448" cy="820272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ct val="0"/>
              </a:spcBef>
              <a:buNone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/>
          </p:nvPr>
        </p:nvSpPr>
        <p:spPr>
          <a:xfrm flipH="1">
            <a:off x="228600" y="228600"/>
            <a:ext cx="8677835" cy="4267200"/>
          </a:xfrm>
          <a:prstGeom prst="snip2DiagRect">
            <a:avLst>
              <a:gd name="adj1" fmla="val 0"/>
              <a:gd name="adj2" fmla="val 4332"/>
            </a:avLst>
          </a:prstGeom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ts val="2000"/>
              </a:spcBef>
              <a:buClr>
                <a:schemeClr val="accent1"/>
              </a:buClr>
              <a:buSzPct val="90000"/>
              <a:buFont typeface="Wingdings 2" pitchFamily="18" charset="2"/>
              <a:buNone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A12D6-0581-5244-969C-11363CC3A066}" type="datetime1">
              <a:rPr lang="en-US" smtClean="0"/>
              <a:t>5/19/2018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>
                <a:solidFill>
                  <a:schemeClr val="tx1"/>
                </a:solidFill>
              </a:rPr>
              <a:t>Copyright © 2017 by Saunders, an imprint of Elsevier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Diagonal Corner Rectangle 8"/>
          <p:cNvSpPr/>
          <p:nvPr/>
        </p:nvSpPr>
        <p:spPr>
          <a:xfrm flipV="1">
            <a:off x="228600" y="1707776"/>
            <a:ext cx="8686800" cy="4908176"/>
          </a:xfrm>
          <a:prstGeom prst="snip2DiagRect">
            <a:avLst>
              <a:gd name="adj1" fmla="val 0"/>
              <a:gd name="adj2" fmla="val 4003"/>
            </a:avLst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nip Diagonal Corner Rectangle 9"/>
          <p:cNvSpPr/>
          <p:nvPr/>
        </p:nvSpPr>
        <p:spPr>
          <a:xfrm flipV="1">
            <a:off x="228600" y="228597"/>
            <a:ext cx="8686800" cy="1277473"/>
          </a:xfrm>
          <a:prstGeom prst="snip2DiagRect">
            <a:avLst>
              <a:gd name="adj1" fmla="val 0"/>
              <a:gd name="adj2" fmla="val 11674"/>
            </a:avLst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3929E-C83E-D446-AC0B-42EFF4D54830}" type="datetime1">
              <a:rPr lang="en-US" smtClean="0"/>
              <a:t>5/19/2018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by Saunders, an imprint of Elsevier Inc.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nip Diagonal Corner Rectangle 7"/>
          <p:cNvSpPr/>
          <p:nvPr/>
        </p:nvSpPr>
        <p:spPr>
          <a:xfrm flipV="1">
            <a:off x="228600" y="228600"/>
            <a:ext cx="8686800" cy="6387352"/>
          </a:xfrm>
          <a:prstGeom prst="snip2DiagRect">
            <a:avLst>
              <a:gd name="adj1" fmla="val 0"/>
              <a:gd name="adj2" fmla="val 2529"/>
            </a:avLst>
          </a:prstGeom>
          <a:solidFill>
            <a:schemeClr val="bg1"/>
          </a:solidFill>
          <a:ln>
            <a:noFill/>
          </a:ln>
          <a:effectLst>
            <a:outerShdw blurRad="50800" dist="63500" dir="2700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7600" y="838201"/>
            <a:ext cx="1219200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9462" y="838201"/>
            <a:ext cx="6307138" cy="51054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41E4C-D032-194D-A591-EBCE5B5B40EE}" type="datetime1">
              <a:rPr lang="en-US" smtClean="0"/>
              <a:t>5/19/2018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2017 by Saunders, an imprint of Elsevier Inc.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9463" y="295833"/>
            <a:ext cx="7583488" cy="114300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79463" y="1949824"/>
            <a:ext cx="7583488" cy="4007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624391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DE209008-EE08-064E-8D9C-54C62EF431E3}" type="datetime1">
              <a:rPr lang="en-US" smtClean="0"/>
              <a:t>5/19/2018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67400" y="624840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r>
              <a:rPr lang="en-US" altLang="en-US">
                <a:solidFill>
                  <a:schemeClr val="tx1"/>
                </a:solidFill>
              </a:rPr>
              <a:t>Copyright © 2017 by Saunders, an imprint of Elsevier Inc.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05300" y="6248400"/>
            <a:ext cx="533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A92DECB8-B2AB-4217-BB8D-B4B27DCE6EF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800" kern="120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2000"/>
        </a:spcBef>
        <a:buClr>
          <a:schemeClr val="accent1"/>
        </a:buClr>
        <a:buSzPct val="90000"/>
        <a:buFont typeface="Wingdings 2" pitchFamily="18" charset="2"/>
        <a:buChar char=""/>
        <a:defRPr sz="22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1pPr>
      <a:lvl2pPr marL="685800" indent="-336550" algn="l" defTabSz="914400" rtl="0" eaLnBrk="1" latinLnBrk="0" hangingPunct="1">
        <a:spcBef>
          <a:spcPts val="600"/>
        </a:spcBef>
        <a:buClr>
          <a:schemeClr val="accent1"/>
        </a:buClr>
        <a:buSzPct val="90000"/>
        <a:buFont typeface="Wingdings 2" pitchFamily="18" charset="2"/>
        <a:buChar char="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2pPr>
      <a:lvl3pPr marL="1035050" indent="-349250" algn="l" defTabSz="914400" rtl="0" eaLnBrk="1" latinLnBrk="0" hangingPunct="1">
        <a:spcBef>
          <a:spcPts val="600"/>
        </a:spcBef>
        <a:buClr>
          <a:schemeClr val="accent1"/>
        </a:buClr>
        <a:buSzPct val="90000"/>
        <a:buFont typeface="Wingdings 2" pitchFamily="18" charset="2"/>
        <a:buChar char=""/>
        <a:defRPr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3pPr>
      <a:lvl4pPr marL="1371600" indent="-336550" algn="l" defTabSz="914400" rtl="0" eaLnBrk="1" latinLnBrk="0" hangingPunct="1">
        <a:spcBef>
          <a:spcPts val="600"/>
        </a:spcBef>
        <a:buClr>
          <a:schemeClr val="accent1"/>
        </a:buClr>
        <a:buSzPct val="90000"/>
        <a:buFont typeface="Wingdings 2" pitchFamily="18" charset="2"/>
        <a:buChar char=""/>
        <a:defRPr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4pPr>
      <a:lvl5pPr marL="1720850" indent="-349250" algn="l" defTabSz="914400" rtl="0" eaLnBrk="1" latinLnBrk="0" hangingPunct="1">
        <a:spcBef>
          <a:spcPts val="600"/>
        </a:spcBef>
        <a:buClr>
          <a:schemeClr val="accent1"/>
        </a:buClr>
        <a:buSzPct val="90000"/>
        <a:buFont typeface="Wingdings 2" pitchFamily="18" charset="2"/>
        <a:buChar char=""/>
        <a:defRPr sz="1800" kern="120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5pPr>
      <a:lvl6pPr marL="2055813" indent="-344488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Wingdings 2" pitchFamily="18" charset="2"/>
        <a:buChar char=""/>
        <a:defRPr lang="en-US" sz="1800" kern="1200" dirty="0" smtClean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6pPr>
      <a:lvl7pPr marL="2398713" indent="-344488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Wingdings 2" pitchFamily="18" charset="2"/>
        <a:buChar char=""/>
        <a:defRPr lang="en-US" sz="1800" kern="1200" dirty="0" smtClean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7pPr>
      <a:lvl8pPr marL="2743200" indent="-344488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Wingdings 2" pitchFamily="18" charset="2"/>
        <a:buChar char=""/>
        <a:defRPr lang="en-US" sz="1800" kern="1200" dirty="0" smtClean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8pPr>
      <a:lvl9pPr marL="3087688" indent="-344488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Wingdings 2" pitchFamily="18" charset="2"/>
        <a:buChar char=""/>
        <a:defRPr lang="en-US" sz="1800" kern="1200" dirty="0">
          <a:solidFill>
            <a:schemeClr val="tx1">
              <a:lumMod val="90000"/>
              <a:lumOff val="1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0" y="2971800"/>
            <a:ext cx="8153400" cy="2133600"/>
          </a:xfrm>
        </p:spPr>
        <p:txBody>
          <a:bodyPr>
            <a:noAutofit/>
          </a:bodyPr>
          <a:lstStyle/>
          <a:p>
            <a:pPr algn="l"/>
            <a:r>
              <a:rPr lang="en-US" sz="3200" dirty="0"/>
              <a:t>Professionalism and Education</a:t>
            </a:r>
            <a:r>
              <a:rPr lang="en-US" sz="4400" dirty="0"/>
              <a:t> / </a:t>
            </a:r>
            <a:r>
              <a:rPr lang="en-US" sz="3200" dirty="0"/>
              <a:t>Conceptual and Philosophical Basis of Nursing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304800" y="5410200"/>
            <a:ext cx="7239000" cy="914400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Catherine Hrycyk, </a:t>
            </a:r>
            <a:r>
              <a:rPr lang="en-US" sz="2800" dirty="0" err="1"/>
              <a:t>MScN</a:t>
            </a:r>
            <a:r>
              <a:rPr lang="en-US" sz="2800"/>
              <a:t>, RN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53837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609600"/>
            <a:ext cx="8001000" cy="5262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Work with the colleague sitting next to you to discuss and answer the following questions (write the answers):</a:t>
            </a:r>
          </a:p>
          <a:p>
            <a:r>
              <a:rPr lang="en-US" sz="2800" dirty="0"/>
              <a:t> </a:t>
            </a:r>
          </a:p>
          <a:p>
            <a:pPr marL="514350" lvl="0" indent="-514350">
              <a:buAutoNum type="arabicPeriod"/>
            </a:pPr>
            <a:r>
              <a:rPr lang="en-US" sz="2800" dirty="0"/>
              <a:t>What are the differences between a profession and ‘occupation’?</a:t>
            </a:r>
          </a:p>
          <a:p>
            <a:pPr lvl="0"/>
            <a:endParaRPr lang="en-US" sz="2800" dirty="0"/>
          </a:p>
          <a:p>
            <a:pPr lvl="0"/>
            <a:endParaRPr lang="en-US" sz="2800" dirty="0"/>
          </a:p>
          <a:p>
            <a:pPr lvl="0"/>
            <a:r>
              <a:rPr lang="en-US" sz="2800" dirty="0"/>
              <a:t>3. Define the following terms: </a:t>
            </a:r>
          </a:p>
          <a:p>
            <a:pPr lvl="2"/>
            <a:r>
              <a:rPr lang="en-US" sz="2800" dirty="0"/>
              <a:t>1. Value</a:t>
            </a:r>
          </a:p>
          <a:p>
            <a:pPr lvl="2"/>
            <a:r>
              <a:rPr lang="en-US" sz="2800" dirty="0"/>
              <a:t>2. Belief</a:t>
            </a:r>
          </a:p>
          <a:p>
            <a:pPr lvl="2"/>
            <a:r>
              <a:rPr lang="en-US" sz="2800" dirty="0"/>
              <a:t>3. Health </a:t>
            </a:r>
          </a:p>
        </p:txBody>
      </p:sp>
    </p:spTree>
    <p:extLst>
      <p:ext uri="{BB962C8B-B14F-4D97-AF65-F5344CB8AC3E}">
        <p14:creationId xmlns:p14="http://schemas.microsoft.com/office/powerpoint/2010/main" val="327826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2776577"/>
              </p:ext>
            </p:extLst>
          </p:nvPr>
        </p:nvGraphicFramePr>
        <p:xfrm>
          <a:off x="304800" y="1752601"/>
          <a:ext cx="8382000" cy="51053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38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1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8223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Arial" pitchFamily="34" charset="0"/>
                          <a:cs typeface="Arial" pitchFamily="34" charset="0"/>
                        </a:rPr>
                        <a:t>OCCUPATION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0" marR="114300" marT="12700" marB="254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effectLst/>
                          <a:latin typeface="Arial" pitchFamily="34" charset="0"/>
                          <a:cs typeface="Arial" pitchFamily="34" charset="0"/>
                        </a:rPr>
                        <a:t>PROFESSION</a:t>
                      </a:r>
                      <a:endParaRPr lang="en-US" sz="1800" b="1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114300" marR="0" marT="12700" marB="2540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79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Training may occur on the job.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0" marR="114300" marT="1270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Education takes place in a college or university.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114300" marR="0" marT="1270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9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Length of training varies.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0" marR="1143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Education is prolonged.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1143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9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Work is largely manual.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0" marR="1143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Work involves mental creativity.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1143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084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Decision making is guided largely by experience or by trial and error.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0" marR="1143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Decision making is based largely on science or theoretical constructs (evidence-based practice).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1143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89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Values, beliefs, and ethics are not prominent features of preparation.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0" marR="1143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Values, beliefs, and ethics are an integral part of preparation.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1143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894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Commitment and personal identification vary.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0" marR="1143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Commitment and personal identification are strong.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1143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694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Workers are supervised.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0" marR="1143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Workers are autonomous.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1143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209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People often change jobs.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0" marR="1143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People are unlikely to change professions.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1143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5727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Material reward is main motivation.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0" marR="1143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Commitment transcends material reward.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1143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51209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Accountability rests primarily with employer.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0" marR="11430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Arial" pitchFamily="34" charset="0"/>
                          <a:cs typeface="Arial" pitchFamily="34" charset="0"/>
                        </a:rPr>
                        <a:t>Accountability rests with individual.</a:t>
                      </a:r>
                      <a:endParaRPr lang="en-US" sz="1600" dirty="0">
                        <a:solidFill>
                          <a:srgbClr val="0000FF"/>
                        </a:solidFill>
                        <a:effectLst/>
                        <a:latin typeface="Arial" pitchFamily="34" charset="0"/>
                        <a:ea typeface="Times New Roman" panose="02020603050405020304" pitchFamily="18" charset="0"/>
                        <a:cs typeface="Arial" pitchFamily="34" charset="0"/>
                      </a:endParaRPr>
                    </a:p>
                  </a:txBody>
                  <a:tcPr marL="114300" marR="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20762"/>
          </a:xfrm>
        </p:spPr>
        <p:txBody>
          <a:bodyPr>
            <a:noAutofit/>
          </a:bodyPr>
          <a:lstStyle/>
          <a:p>
            <a:pPr lvl="0"/>
            <a:r>
              <a:rPr lang="en-US" altLang="en-US" sz="4000" dirty="0">
                <a:ea typeface="Times New Roman" panose="02020603050405020304" pitchFamily="18" charset="0"/>
                <a:cs typeface="Arial" panose="020B0604020202020204" pitchFamily="34" charset="0"/>
              </a:rPr>
              <a:t>Occupation vs. Profession</a:t>
            </a:r>
            <a:endParaRPr lang="en-US" sz="400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5006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685800"/>
            <a:ext cx="8686800" cy="609600"/>
          </a:xfrm>
        </p:spPr>
        <p:txBody>
          <a:bodyPr>
            <a:noAutofit/>
          </a:bodyPr>
          <a:lstStyle/>
          <a:p>
            <a:r>
              <a:rPr lang="en-US" sz="3600" dirty="0"/>
              <a:t>Eight Characteristics of a Profession </a:t>
            </a:r>
            <a:r>
              <a:rPr lang="en-US" sz="2400" dirty="0"/>
              <a:t>(Kelly, 1981)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229600" cy="4495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1. The services provided are vital to humanity and the welfare of society.</a:t>
            </a:r>
          </a:p>
          <a:p>
            <a:r>
              <a:rPr lang="en-US" sz="2400" dirty="0"/>
              <a:t>Why do students want to become a nurse?  “To help people”</a:t>
            </a:r>
          </a:p>
          <a:p>
            <a:pPr lvl="1"/>
            <a:r>
              <a:rPr lang="en-US" sz="2400" dirty="0"/>
              <a:t>Caring is the core of professional nursing through which nurses intervene for their patients</a:t>
            </a:r>
          </a:p>
          <a:p>
            <a:pPr lvl="1"/>
            <a:r>
              <a:rPr lang="en-US" sz="2400" dirty="0"/>
              <a:t>Caring in highly technologically advance healthcare environment:</a:t>
            </a:r>
          </a:p>
          <a:p>
            <a:pPr lvl="2"/>
            <a:r>
              <a:rPr lang="en-US" sz="2200" dirty="0"/>
              <a:t>Nurses MUST focus on maintaining human aspects of caring</a:t>
            </a:r>
          </a:p>
          <a:p>
            <a:pPr lvl="2"/>
            <a:r>
              <a:rPr lang="en-US" sz="2200" b="1" u="sng" dirty="0"/>
              <a:t>How do nurses demonstrate caring?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93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020762"/>
          </a:xfrm>
        </p:spPr>
        <p:txBody>
          <a:bodyPr>
            <a:normAutofit/>
          </a:bodyPr>
          <a:lstStyle/>
          <a:p>
            <a:r>
              <a:rPr lang="en-US" sz="3600" dirty="0"/>
              <a:t>Eight Characteristics of a Profession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057400"/>
            <a:ext cx="8229600" cy="437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2. There is a special body of knowledge that is continually enlarged through research.</a:t>
            </a:r>
          </a:p>
          <a:p>
            <a:r>
              <a:rPr lang="en-US" sz="2400" dirty="0"/>
              <a:t>Research nursing degrees</a:t>
            </a:r>
          </a:p>
          <a:p>
            <a:r>
              <a:rPr lang="en-US" sz="2400" dirty="0"/>
              <a:t>Nursing relies on theory and research as a basis for practice. </a:t>
            </a:r>
          </a:p>
          <a:p>
            <a:pPr lvl="1"/>
            <a:r>
              <a:rPr lang="en-US" sz="2400" dirty="0"/>
              <a:t>Example: Evidence-based practice 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268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888288" cy="1066800"/>
          </a:xfrm>
        </p:spPr>
        <p:txBody>
          <a:bodyPr>
            <a:normAutofit/>
          </a:bodyPr>
          <a:lstStyle/>
          <a:p>
            <a:r>
              <a:rPr lang="en-US" sz="4000" dirty="0"/>
              <a:t>Eight Characteristics of a Profession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9824"/>
            <a:ext cx="7905751" cy="4007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3. The services involve intellectual activities; individual responsibility </a:t>
            </a:r>
            <a:r>
              <a:rPr lang="en-US" sz="2800" b="1" dirty="0"/>
              <a:t>(accountability)</a:t>
            </a:r>
            <a:r>
              <a:rPr lang="en-US" sz="2800" dirty="0"/>
              <a:t> is a strong feature.</a:t>
            </a:r>
          </a:p>
          <a:p>
            <a:r>
              <a:rPr lang="en-US" dirty="0"/>
              <a:t>Critical and creative thinking serves as basis for providing nursing care.  Example: Nursing process</a:t>
            </a:r>
          </a:p>
          <a:p>
            <a:r>
              <a:rPr lang="en-US" dirty="0"/>
              <a:t>ANA defines accountability</a:t>
            </a:r>
          </a:p>
          <a:p>
            <a:pPr lvl="1"/>
            <a:r>
              <a:rPr lang="en-US" dirty="0"/>
              <a:t>Accountability is firmly rooted in the ethical principles of “fidelity (faithfulness), loyalty, veracity, beneficence, and respect for the dignity, worth, and self-determination of patients.” 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6532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5833"/>
            <a:ext cx="7753351" cy="999567"/>
          </a:xfrm>
        </p:spPr>
        <p:txBody>
          <a:bodyPr>
            <a:normAutofit/>
          </a:bodyPr>
          <a:lstStyle/>
          <a:p>
            <a:r>
              <a:rPr lang="en-US" sz="4000" dirty="0"/>
              <a:t>Eight Characteristics of a Profession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9824"/>
            <a:ext cx="7905751" cy="400722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 4.Practitioners are educated in institutions of higher learning.</a:t>
            </a:r>
            <a:endParaRPr lang="en-US" sz="2400" dirty="0"/>
          </a:p>
          <a:p>
            <a:r>
              <a:rPr lang="en-US" sz="2400" dirty="0"/>
              <a:t>1909: University of Minnesota – first university-based nursing</a:t>
            </a:r>
          </a:p>
          <a:p>
            <a:pPr lvl="0"/>
            <a:r>
              <a:rPr lang="en-US" sz="2400" dirty="0"/>
              <a:t>1923: Yale – first university based School of Nursing </a:t>
            </a:r>
          </a:p>
          <a:p>
            <a:r>
              <a:rPr lang="en-US" sz="2400" dirty="0"/>
              <a:t>1965: ANA Position Paper – All nursing education should take place in institutions of higher education. </a:t>
            </a:r>
          </a:p>
          <a:p>
            <a:r>
              <a:rPr lang="en-US" sz="2400" dirty="0"/>
              <a:t>Debate: Entry level into Practice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990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833"/>
            <a:ext cx="7905751" cy="999567"/>
          </a:xfrm>
        </p:spPr>
        <p:txBody>
          <a:bodyPr>
            <a:normAutofit/>
          </a:bodyPr>
          <a:lstStyle/>
          <a:p>
            <a:r>
              <a:rPr lang="en-US" sz="4000" dirty="0"/>
              <a:t>Eight Characteristics of a Profession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9824"/>
            <a:ext cx="8229600" cy="44509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000" dirty="0"/>
              <a:t>5. Practitioners are relatively independent and control their own policies and activities </a:t>
            </a:r>
            <a:r>
              <a:rPr lang="en-US" sz="3000" b="1" dirty="0"/>
              <a:t>(autonomy).</a:t>
            </a:r>
          </a:p>
          <a:p>
            <a:pPr lvl="1"/>
            <a:r>
              <a:rPr lang="en-US" sz="2600" dirty="0"/>
              <a:t>Autonomy </a:t>
            </a:r>
            <a:r>
              <a:rPr lang="en-US" sz="2600" dirty="0">
                <a:latin typeface="Calibri"/>
              </a:rPr>
              <a:t>–</a:t>
            </a:r>
            <a:r>
              <a:rPr lang="en-US" sz="2600" dirty="0"/>
              <a:t> control over one’s practice. </a:t>
            </a:r>
          </a:p>
          <a:p>
            <a:pPr lvl="1"/>
            <a:r>
              <a:rPr lang="en-US" sz="2600" dirty="0"/>
              <a:t>Licensure and autonomous practice</a:t>
            </a:r>
          </a:p>
          <a:p>
            <a:pPr lvl="1"/>
            <a:r>
              <a:rPr lang="en-US" sz="2600" dirty="0"/>
              <a:t>“</a:t>
            </a:r>
            <a:r>
              <a:rPr lang="en-US" sz="2600" dirty="0" err="1"/>
              <a:t>Dotor’s</a:t>
            </a:r>
            <a:r>
              <a:rPr lang="en-US" sz="2600" dirty="0"/>
              <a:t> orders” connotation</a:t>
            </a:r>
          </a:p>
          <a:p>
            <a:pPr lvl="1"/>
            <a:r>
              <a:rPr lang="en-US" sz="2600" dirty="0"/>
              <a:t>Groups that control nursing practice</a:t>
            </a:r>
          </a:p>
          <a:p>
            <a:pPr lvl="2"/>
            <a:r>
              <a:rPr lang="en-US" sz="2600" dirty="0"/>
              <a:t>Organized nursing </a:t>
            </a:r>
          </a:p>
          <a:p>
            <a:pPr lvl="2"/>
            <a:r>
              <a:rPr lang="en-US" sz="2600" dirty="0"/>
              <a:t>Organized medicine </a:t>
            </a:r>
          </a:p>
          <a:p>
            <a:pPr lvl="2"/>
            <a:r>
              <a:rPr lang="en-US" sz="2600" dirty="0"/>
              <a:t>Health service administration</a:t>
            </a:r>
          </a:p>
          <a:p>
            <a:pPr lvl="1"/>
            <a:r>
              <a:rPr lang="en-US" sz="2600" dirty="0"/>
              <a:t>Magnet Recognition program and survey of nurses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895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95833"/>
            <a:ext cx="7829551" cy="999567"/>
          </a:xfrm>
        </p:spPr>
        <p:txBody>
          <a:bodyPr>
            <a:normAutofit/>
          </a:bodyPr>
          <a:lstStyle/>
          <a:p>
            <a:r>
              <a:rPr lang="en-US" sz="3600" dirty="0"/>
              <a:t>Eight Characteristics of a Profession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9824"/>
            <a:ext cx="7905751" cy="4007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6. Practitioners are motivated by service </a:t>
            </a:r>
            <a:r>
              <a:rPr lang="en-US" sz="2800" b="1" dirty="0"/>
              <a:t>(altruism)</a:t>
            </a:r>
            <a:r>
              <a:rPr lang="en-US" sz="2800" dirty="0"/>
              <a:t> and consider their work an important component of their lives.</a:t>
            </a:r>
          </a:p>
          <a:p>
            <a:pPr lvl="1"/>
            <a:r>
              <a:rPr lang="en-US" sz="2400" dirty="0"/>
              <a:t>Altruism – ideal of service to others</a:t>
            </a:r>
          </a:p>
          <a:p>
            <a:pPr lvl="1"/>
            <a:r>
              <a:rPr lang="en-US" sz="2400" dirty="0"/>
              <a:t>Nurses’ altruism is sometimes questioned when they demand higher compensation and better working conditions.</a:t>
            </a:r>
          </a:p>
          <a:p>
            <a:pPr lvl="1"/>
            <a:r>
              <a:rPr lang="en-US" sz="2400" dirty="0"/>
              <a:t>Collective bargaining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651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95833"/>
            <a:ext cx="7829551" cy="999567"/>
          </a:xfrm>
        </p:spPr>
        <p:txBody>
          <a:bodyPr>
            <a:normAutofit/>
          </a:bodyPr>
          <a:lstStyle/>
          <a:p>
            <a:r>
              <a:rPr lang="en-US" sz="3600" dirty="0"/>
              <a:t>Eight Characteristics of a Profession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49824"/>
            <a:ext cx="7829551" cy="40072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7. There is a code of ethics to guide the decisions and conduct of practitioners.</a:t>
            </a:r>
          </a:p>
          <a:p>
            <a:pPr lvl="1"/>
            <a:r>
              <a:rPr lang="en-US" sz="2400" dirty="0"/>
              <a:t>1893: Nightingale Pledge </a:t>
            </a:r>
          </a:p>
          <a:p>
            <a:pPr lvl="1"/>
            <a:r>
              <a:rPr lang="en-US" sz="2400" dirty="0"/>
              <a:t>ICN and ANA established a Code of Ethics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703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95833"/>
            <a:ext cx="7583488" cy="847167"/>
          </a:xfrm>
        </p:spPr>
        <p:txBody>
          <a:bodyPr>
            <a:normAutofit/>
          </a:bodyPr>
          <a:lstStyle/>
          <a:p>
            <a:r>
              <a:rPr lang="en-US" dirty="0"/>
              <a:t>Eight Characteristics of a Profession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1949824"/>
            <a:ext cx="8135937" cy="429857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8.There is an organization </a:t>
            </a:r>
            <a:r>
              <a:rPr lang="en-US" sz="2800" b="1" dirty="0"/>
              <a:t>(association)</a:t>
            </a:r>
            <a:r>
              <a:rPr lang="en-US" sz="2800" dirty="0"/>
              <a:t> that encourages and supports high standards of practice.</a:t>
            </a:r>
          </a:p>
          <a:p>
            <a:r>
              <a:rPr lang="en-US" sz="2600" dirty="0"/>
              <a:t>American Nurses Association (ANA) – official voice of nursing </a:t>
            </a:r>
          </a:p>
          <a:p>
            <a:r>
              <a:rPr lang="en-US" sz="2600" dirty="0"/>
              <a:t>Purposes </a:t>
            </a:r>
          </a:p>
          <a:p>
            <a:r>
              <a:rPr lang="en-US" sz="2600" dirty="0"/>
              <a:t>Relatively low percentage of nurses who belong to ANA and the constituent state nurses association</a:t>
            </a:r>
          </a:p>
          <a:p>
            <a:r>
              <a:rPr lang="en-US" sz="2600" dirty="0"/>
              <a:t>A significant political influence is unrealized for the profession.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970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95833"/>
            <a:ext cx="7981951" cy="847167"/>
          </a:xfrm>
        </p:spPr>
        <p:txBody>
          <a:bodyPr>
            <a:noAutofit/>
          </a:bodyPr>
          <a:lstStyle/>
          <a:p>
            <a:r>
              <a:rPr lang="en-US" dirty="0"/>
              <a:t>Barriers to Professionalism in Nursing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305799" cy="4953000"/>
          </a:xfrm>
        </p:spPr>
        <p:txBody>
          <a:bodyPr>
            <a:noAutofit/>
          </a:bodyPr>
          <a:lstStyle/>
          <a:p>
            <a:r>
              <a:rPr lang="en-US" sz="2400" b="1" u="sng" dirty="0"/>
              <a:t>Varying levels of education for entry into practice</a:t>
            </a:r>
          </a:p>
          <a:p>
            <a:pPr lvl="1"/>
            <a:r>
              <a:rPr lang="en-US" dirty="0"/>
              <a:t>Lack of a standardized requirement for a minimum of a BSN, and preferably MSN (David, 2000)</a:t>
            </a:r>
          </a:p>
          <a:p>
            <a:r>
              <a:rPr lang="en-US" sz="2400" dirty="0"/>
              <a:t>Gender issues</a:t>
            </a:r>
          </a:p>
          <a:p>
            <a:r>
              <a:rPr lang="en-US" sz="2400" dirty="0">
                <a:solidFill>
                  <a:schemeClr val="tx1"/>
                </a:solidFill>
              </a:rPr>
              <a:t>Historic influences</a:t>
            </a:r>
          </a:p>
          <a:p>
            <a:pPr lvl="1"/>
            <a:r>
              <a:rPr lang="en-US" dirty="0"/>
              <a:t>Religious and military background and obedience</a:t>
            </a:r>
          </a:p>
          <a:p>
            <a:r>
              <a:rPr lang="en-US" sz="2400" dirty="0"/>
              <a:t>External conflicts </a:t>
            </a:r>
          </a:p>
          <a:p>
            <a:pPr lvl="1"/>
            <a:r>
              <a:rPr lang="en-US" dirty="0"/>
              <a:t>Tension between medicine and nursing</a:t>
            </a:r>
          </a:p>
          <a:p>
            <a:r>
              <a:rPr lang="en-US" sz="2400" dirty="0"/>
              <a:t>Internal conflicts </a:t>
            </a:r>
          </a:p>
          <a:p>
            <a:pPr lvl="1"/>
            <a:r>
              <a:rPr lang="en-US" dirty="0"/>
              <a:t>Fragmented power and influence in professional nursing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204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95833"/>
            <a:ext cx="7583488" cy="999567"/>
          </a:xfrm>
        </p:spPr>
        <p:txBody>
          <a:bodyPr/>
          <a:lstStyle/>
          <a:p>
            <a:r>
              <a:rPr lang="en-US" dirty="0"/>
              <a:t>Types of RN Education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981200"/>
            <a:ext cx="4056061" cy="4190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Pre-licensure programs (entry to practice): </a:t>
            </a:r>
          </a:p>
          <a:p>
            <a:r>
              <a:rPr lang="en-US" dirty="0"/>
              <a:t>Diploma</a:t>
            </a:r>
          </a:p>
          <a:p>
            <a:r>
              <a:rPr lang="en-US" dirty="0"/>
              <a:t>AND</a:t>
            </a:r>
          </a:p>
          <a:p>
            <a:r>
              <a:rPr lang="en-US" dirty="0"/>
              <a:t>BSN</a:t>
            </a:r>
          </a:p>
          <a:p>
            <a:r>
              <a:rPr lang="en-US" dirty="0"/>
              <a:t>Graduate pre-licensure programs (ELMS, ELDNP)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4705350" y="1981200"/>
            <a:ext cx="3905249" cy="41909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Post-licensure programs:</a:t>
            </a:r>
          </a:p>
          <a:p>
            <a:r>
              <a:rPr lang="en-US" dirty="0"/>
              <a:t>RN to BAN</a:t>
            </a:r>
          </a:p>
          <a:p>
            <a:r>
              <a:rPr lang="en-US" dirty="0"/>
              <a:t>Advance practice programs:</a:t>
            </a:r>
          </a:p>
          <a:p>
            <a:r>
              <a:rPr lang="en-US" dirty="0"/>
              <a:t>MSN</a:t>
            </a:r>
          </a:p>
          <a:p>
            <a:r>
              <a:rPr lang="en-US" dirty="0"/>
              <a:t>DNP</a:t>
            </a:r>
          </a:p>
          <a:p>
            <a:r>
              <a:rPr lang="en-US" dirty="0"/>
              <a:t>Research degrees (doctoral degrees such as PhD, DSc)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0207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5833"/>
            <a:ext cx="7753351" cy="999568"/>
          </a:xfrm>
        </p:spPr>
        <p:txBody>
          <a:bodyPr/>
          <a:lstStyle/>
          <a:p>
            <a:r>
              <a:rPr lang="en-US" dirty="0"/>
              <a:t>Diploma Nursing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49824"/>
            <a:ext cx="7753351" cy="4374776"/>
          </a:xfrm>
        </p:spPr>
        <p:txBody>
          <a:bodyPr>
            <a:normAutofit/>
          </a:bodyPr>
          <a:lstStyle/>
          <a:p>
            <a:r>
              <a:rPr lang="en-US" sz="2400" dirty="0"/>
              <a:t>Peak: 1920</a:t>
            </a:r>
            <a:r>
              <a:rPr lang="en-US" sz="2400" dirty="0">
                <a:latin typeface="Calibri"/>
              </a:rPr>
              <a:t>–</a:t>
            </a:r>
            <a:r>
              <a:rPr lang="en-US" sz="2400" dirty="0"/>
              <a:t>1930 – ~200 programs in almost any state</a:t>
            </a:r>
          </a:p>
          <a:p>
            <a:r>
              <a:rPr lang="en-US" sz="2400" dirty="0"/>
              <a:t>Mid 20</a:t>
            </a:r>
            <a:r>
              <a:rPr lang="en-US" sz="2400" baseline="30000" dirty="0"/>
              <a:t>th</a:t>
            </a:r>
            <a:r>
              <a:rPr lang="en-US" sz="2400" dirty="0"/>
              <a:t> century – dramatic decline caused by transfer of nursing education to the institutes of higher education</a:t>
            </a:r>
          </a:p>
          <a:p>
            <a:r>
              <a:rPr lang="en-US" sz="2400" dirty="0"/>
              <a:t>Reasons for decline:</a:t>
            </a:r>
          </a:p>
          <a:p>
            <a:pPr lvl="1"/>
            <a:r>
              <a:rPr lang="en-US" dirty="0"/>
              <a:t>Increasing complexity of healthcare environment</a:t>
            </a:r>
          </a:p>
          <a:p>
            <a:pPr lvl="1"/>
            <a:r>
              <a:rPr lang="en-US" dirty="0"/>
              <a:t>Most colleges and universities did not recognize diploma programs. </a:t>
            </a:r>
          </a:p>
          <a:p>
            <a:pPr lvl="2"/>
            <a:r>
              <a:rPr lang="en-US" dirty="0"/>
              <a:t>Current practice: Diploma programs establish agreements with colleges and universities. </a:t>
            </a:r>
          </a:p>
          <a:p>
            <a:pPr lvl="1"/>
            <a:r>
              <a:rPr lang="en-US" dirty="0"/>
              <a:t>Hospital misused the programs to turn students into free labor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437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95833"/>
            <a:ext cx="7829551" cy="999567"/>
          </a:xfrm>
        </p:spPr>
        <p:txBody>
          <a:bodyPr/>
          <a:lstStyle/>
          <a:p>
            <a:r>
              <a:rPr lang="en-US" dirty="0"/>
              <a:t>Baccalaureate Programs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49824"/>
            <a:ext cx="8610600" cy="4374776"/>
          </a:xfrm>
        </p:spPr>
        <p:txBody>
          <a:bodyPr>
            <a:normAutofit/>
          </a:bodyPr>
          <a:lstStyle/>
          <a:p>
            <a:r>
              <a:rPr lang="en-US" dirty="0"/>
              <a:t>Required to qualify nursing as a recognized profession and to provide leadership in administration, teaching, and public health.</a:t>
            </a:r>
          </a:p>
          <a:p>
            <a:r>
              <a:rPr lang="en-US" dirty="0"/>
              <a:t>1909: First BSN program in University of Minnesota </a:t>
            </a:r>
          </a:p>
          <a:p>
            <a:r>
              <a:rPr lang="en-US" dirty="0"/>
              <a:t>4- 5 years programs including general education </a:t>
            </a:r>
            <a:r>
              <a:rPr lang="en-US" dirty="0" err="1"/>
              <a:t>reqs</a:t>
            </a:r>
            <a:r>
              <a:rPr lang="en-US" dirty="0"/>
              <a:t> + nursing courses.</a:t>
            </a:r>
          </a:p>
          <a:p>
            <a:r>
              <a:rPr lang="en-US" dirty="0"/>
              <a:t>BSN graduates are eligible to take licensure exams, prepared to move into graduate programs and advanced practice certification programs. </a:t>
            </a:r>
          </a:p>
          <a:p>
            <a:r>
              <a:rPr lang="en-US" dirty="0"/>
              <a:t>2008 AACN. The Essentials of Baccalaureate Education for Professional Nursing Practice.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213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04800"/>
            <a:ext cx="7583488" cy="990600"/>
          </a:xfrm>
        </p:spPr>
        <p:txBody>
          <a:bodyPr/>
          <a:lstStyle/>
          <a:p>
            <a:r>
              <a:rPr lang="en-US" dirty="0"/>
              <a:t>Associate Degree Programs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9824"/>
            <a:ext cx="8077199" cy="4450976"/>
          </a:xfrm>
        </p:spPr>
        <p:txBody>
          <a:bodyPr>
            <a:normAutofit/>
          </a:bodyPr>
          <a:lstStyle/>
          <a:p>
            <a:r>
              <a:rPr lang="en-US" sz="2400" dirty="0"/>
              <a:t>Begun 1952, based on a model developed by Mildred Montag. </a:t>
            </a:r>
          </a:p>
          <a:p>
            <a:r>
              <a:rPr lang="en-US" sz="2400" dirty="0"/>
              <a:t>Mildred </a:t>
            </a:r>
            <a:r>
              <a:rPr lang="en-US" sz="2400" dirty="0" err="1"/>
              <a:t>Montag’s</a:t>
            </a:r>
            <a:r>
              <a:rPr lang="en-US" sz="2400" dirty="0"/>
              <a:t> ADN program:</a:t>
            </a:r>
          </a:p>
          <a:p>
            <a:pPr lvl="1"/>
            <a:r>
              <a:rPr lang="en-US" dirty="0"/>
              <a:t>Short duration to prepare nurse technicians</a:t>
            </a:r>
          </a:p>
          <a:p>
            <a:pPr lvl="1"/>
            <a:r>
              <a:rPr lang="en-US" dirty="0"/>
              <a:t>Nurse technicians function under supervision of professional nurses</a:t>
            </a:r>
          </a:p>
          <a:p>
            <a:pPr lvl="1"/>
            <a:r>
              <a:rPr lang="en-US" dirty="0"/>
              <a:t>Routine care in acute and long-term settings</a:t>
            </a:r>
          </a:p>
          <a:p>
            <a:pPr lvl="1"/>
            <a:r>
              <a:rPr lang="en-US" dirty="0"/>
              <a:t>Intended for end-point degree and not an incremental step to BSN </a:t>
            </a:r>
          </a:p>
          <a:p>
            <a:r>
              <a:rPr lang="en-US" dirty="0"/>
              <a:t>Contrary to the original intent of ADN, the graduates received the right to sit for NCLEX-RN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1153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95833"/>
            <a:ext cx="7583488" cy="999567"/>
          </a:xfrm>
        </p:spPr>
        <p:txBody>
          <a:bodyPr/>
          <a:lstStyle/>
          <a:p>
            <a:r>
              <a:rPr lang="en-US" dirty="0"/>
              <a:t>Articulated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9824"/>
            <a:ext cx="8382000" cy="4298576"/>
          </a:xfrm>
        </p:spPr>
        <p:txBody>
          <a:bodyPr/>
          <a:lstStyle/>
          <a:p>
            <a:r>
              <a:rPr lang="en-US" sz="2400" dirty="0"/>
              <a:t>Definition: Mobility between programs</a:t>
            </a:r>
          </a:p>
          <a:p>
            <a:r>
              <a:rPr lang="en-US" sz="2400" dirty="0"/>
              <a:t>Purpose: Facilitate opportunities to move up the educational ladder. </a:t>
            </a:r>
          </a:p>
          <a:p>
            <a:r>
              <a:rPr lang="en-US" sz="2400" dirty="0"/>
              <a:t>Multiple-entry and multiple exit programs </a:t>
            </a:r>
          </a:p>
          <a:p>
            <a:r>
              <a:rPr lang="en-US" sz="2400" dirty="0"/>
              <a:t>Articulation agreements facilitate student movement between programs and accept transfer credit between institutions. These result in acceleration or advanced placement.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53942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096962"/>
          </a:xfrm>
        </p:spPr>
        <p:txBody>
          <a:bodyPr>
            <a:normAutofit/>
          </a:bodyPr>
          <a:lstStyle/>
          <a:p>
            <a:r>
              <a:rPr lang="en-US" dirty="0"/>
              <a:t>RN to BSN and Graduate Entry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373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RN to BSN:</a:t>
            </a:r>
          </a:p>
          <a:p>
            <a:r>
              <a:rPr lang="en-US" sz="2400" dirty="0"/>
              <a:t>Diploma and ADN nurses are given credits to meet certain BSN requirements. </a:t>
            </a:r>
          </a:p>
          <a:p>
            <a:r>
              <a:rPr lang="en-US" sz="2400" dirty="0"/>
              <a:t>Transfer of general education courses</a:t>
            </a:r>
          </a:p>
          <a:p>
            <a:r>
              <a:rPr lang="en-US" sz="2400" dirty="0"/>
              <a:t>Options for advanced placement</a:t>
            </a:r>
          </a:p>
          <a:p>
            <a:pPr marL="0" indent="0">
              <a:buNone/>
            </a:pPr>
            <a:r>
              <a:rPr lang="en-US" sz="2400" dirty="0"/>
              <a:t>Graduate entry programs: </a:t>
            </a:r>
          </a:p>
          <a:p>
            <a:r>
              <a:rPr lang="en-US" sz="2400" dirty="0"/>
              <a:t>Accelerated or fast-track sequence to award a second bachelor’s degree, MSN (ELMS), DNP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714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833"/>
            <a:ext cx="8305799" cy="923367"/>
          </a:xfrm>
        </p:spPr>
        <p:txBody>
          <a:bodyPr>
            <a:normAutofit fontScale="90000"/>
          </a:bodyPr>
          <a:lstStyle/>
          <a:p>
            <a:r>
              <a:rPr lang="en-US" dirty="0"/>
              <a:t>Accreditation: Ensuring Quality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905000"/>
            <a:ext cx="8610600" cy="4953000"/>
          </a:xfrm>
        </p:spPr>
        <p:txBody>
          <a:bodyPr>
            <a:normAutofit/>
          </a:bodyPr>
          <a:lstStyle/>
          <a:p>
            <a:r>
              <a:rPr lang="en-US" sz="2400" dirty="0"/>
              <a:t>Accreditation – voluntary review process of educational programs by a professional organization</a:t>
            </a:r>
          </a:p>
          <a:p>
            <a:r>
              <a:rPr lang="en-US" sz="2400" dirty="0"/>
              <a:t>The accrediting agency compares the educational quality of the program with established standards and criteria.</a:t>
            </a:r>
          </a:p>
          <a:p>
            <a:r>
              <a:rPr lang="en-US" sz="2400" dirty="0"/>
              <a:t>It derives authority from the US Department of Education.</a:t>
            </a:r>
          </a:p>
          <a:p>
            <a:r>
              <a:rPr lang="en-US" sz="2400" dirty="0"/>
              <a:t>Two agencies: </a:t>
            </a:r>
          </a:p>
          <a:p>
            <a:pPr lvl="1"/>
            <a:r>
              <a:rPr lang="en-US" dirty="0"/>
              <a:t>Accreditation Commission for Education in Nursing (ACEN)</a:t>
            </a:r>
          </a:p>
          <a:p>
            <a:pPr lvl="3"/>
            <a:r>
              <a:rPr lang="en-US" dirty="0"/>
              <a:t>Accredits ALL nursing programs, not just RN programs</a:t>
            </a:r>
          </a:p>
          <a:p>
            <a:pPr lvl="1"/>
            <a:r>
              <a:rPr lang="en-US" dirty="0"/>
              <a:t>Commission on Collegiate Nursing Education (CCNE)</a:t>
            </a:r>
          </a:p>
          <a:p>
            <a:pPr lvl="3"/>
            <a:r>
              <a:rPr lang="en-US" dirty="0"/>
              <a:t>Baccalaureate and higher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329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95833"/>
            <a:ext cx="8077199" cy="923367"/>
          </a:xfrm>
        </p:spPr>
        <p:txBody>
          <a:bodyPr>
            <a:noAutofit/>
          </a:bodyPr>
          <a:lstStyle/>
          <a:p>
            <a:r>
              <a:rPr lang="en-US" dirty="0"/>
              <a:t>Advance Practice Degrees: MSN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49824"/>
            <a:ext cx="8305800" cy="4450976"/>
          </a:xfrm>
        </p:spPr>
        <p:txBody>
          <a:bodyPr>
            <a:normAutofit lnSpcReduction="10000"/>
          </a:bodyPr>
          <a:lstStyle/>
          <a:p>
            <a:pPr marL="457200"/>
            <a:r>
              <a:rPr lang="en-US" sz="2600" dirty="0"/>
              <a:t>Admission requirements:</a:t>
            </a:r>
          </a:p>
          <a:p>
            <a:pPr marL="800100" lvl="1"/>
            <a:r>
              <a:rPr lang="en-US" sz="2400" dirty="0"/>
              <a:t>Active and unrestricted license</a:t>
            </a:r>
          </a:p>
          <a:p>
            <a:pPr marL="800100" lvl="1"/>
            <a:r>
              <a:rPr lang="en-US" sz="2400" dirty="0"/>
              <a:t>BSN or equivalent AND</a:t>
            </a:r>
          </a:p>
          <a:p>
            <a:pPr marL="800100" lvl="1"/>
            <a:r>
              <a:rPr lang="en-US" sz="2400" dirty="0"/>
              <a:t>Work experience</a:t>
            </a:r>
          </a:p>
          <a:p>
            <a:pPr marL="457200"/>
            <a:r>
              <a:rPr lang="en-US" sz="2600" dirty="0"/>
              <a:t>2 to 4 years, depending on focus</a:t>
            </a:r>
          </a:p>
          <a:p>
            <a:pPr marL="457200"/>
            <a:r>
              <a:rPr lang="en-US" sz="2600" dirty="0"/>
              <a:t>Major areas of role preparation:</a:t>
            </a:r>
          </a:p>
          <a:p>
            <a:pPr marL="857250" lvl="1"/>
            <a:r>
              <a:rPr lang="en-US" sz="2400" dirty="0"/>
              <a:t>Administration, case management, informatics, health policy/health care systems, teacher education, clinical nurse specialist, NP, nurse-midwifery, nurse anesthesia, and other clinical and nonclinical areas of study</a:t>
            </a:r>
          </a:p>
          <a:p>
            <a:pPr marL="45720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277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058151" cy="1066800"/>
          </a:xfrm>
        </p:spPr>
        <p:txBody>
          <a:bodyPr>
            <a:noAutofit/>
          </a:bodyPr>
          <a:lstStyle/>
          <a:p>
            <a:r>
              <a:rPr lang="en-US" dirty="0"/>
              <a:t>Advance Practice Degrees: Doctorate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Doctoral programs prepare nurses to become faculty members in universities, administrators in schools of nursing or large medical centers, researchers, theorists, and advanced practitioners. </a:t>
            </a:r>
          </a:p>
          <a:p>
            <a:pPr marL="628650" lvl="1" indent="-171450">
              <a:spcBef>
                <a:spcPts val="0"/>
              </a:spcBef>
              <a:defRPr/>
            </a:pPr>
            <a:r>
              <a:rPr lang="en-US" sz="2400" b="1" dirty="0"/>
              <a:t>Research-focused degree</a:t>
            </a:r>
            <a:r>
              <a:rPr lang="en-US" sz="2400" dirty="0"/>
              <a:t>—doctor of philosophy (PhD) or doctor of science (DSc)</a:t>
            </a:r>
          </a:p>
          <a:p>
            <a:pPr marL="628650" lvl="1" indent="-171450">
              <a:spcBef>
                <a:spcPts val="0"/>
              </a:spcBef>
              <a:defRPr/>
            </a:pPr>
            <a:r>
              <a:rPr lang="en-US" sz="2400" b="1" dirty="0"/>
              <a:t>Practice-focused degree</a:t>
            </a:r>
            <a:r>
              <a:rPr lang="en-US" sz="2400" dirty="0"/>
              <a:t>—doctor of nursing practice (DNP)</a:t>
            </a:r>
          </a:p>
          <a:p>
            <a:pPr lvl="1"/>
            <a:r>
              <a:rPr lang="en-US" sz="2400" dirty="0"/>
              <a:t>DNP to become minimum requirement for advance practice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237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152400" y="4038600"/>
            <a:ext cx="7460542" cy="1066800"/>
          </a:xfrm>
        </p:spPr>
        <p:txBody>
          <a:bodyPr>
            <a:noAutofit/>
          </a:bodyPr>
          <a:lstStyle/>
          <a:p>
            <a:pPr algn="l"/>
            <a:r>
              <a:rPr lang="en-US" sz="3800" dirty="0"/>
              <a:t>Conceptual and Philosophical Basis</a:t>
            </a:r>
            <a:br>
              <a:rPr lang="en-US" sz="3800" dirty="0"/>
            </a:br>
            <a:r>
              <a:rPr lang="en-US" sz="3800" dirty="0"/>
              <a:t>of Nursing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304800" y="5181600"/>
            <a:ext cx="7239000" cy="1143000"/>
          </a:xfrm>
        </p:spPr>
        <p:txBody>
          <a:bodyPr>
            <a:noAutofit/>
          </a:bodyPr>
          <a:lstStyle/>
          <a:p>
            <a:pPr algn="l"/>
            <a:r>
              <a:rPr lang="en-US" sz="2800" dirty="0"/>
              <a:t>Peter Miskin, </a:t>
            </a:r>
            <a:r>
              <a:rPr lang="en-US" sz="2800" dirty="0" err="1"/>
              <a:t>DHSc</a:t>
            </a:r>
            <a:r>
              <a:rPr lang="en-US" sz="2800" dirty="0"/>
              <a:t>, </a:t>
            </a:r>
            <a:r>
              <a:rPr lang="en-US" sz="2800" dirty="0" err="1"/>
              <a:t>MScN</a:t>
            </a:r>
            <a:r>
              <a:rPr lang="en-US" sz="2800" dirty="0"/>
              <a:t>, RN, PHN</a:t>
            </a:r>
          </a:p>
        </p:txBody>
      </p:sp>
    </p:spTree>
    <p:extLst>
      <p:ext uri="{BB962C8B-B14F-4D97-AF65-F5344CB8AC3E}">
        <p14:creationId xmlns:p14="http://schemas.microsoft.com/office/powerpoint/2010/main" val="722093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95833"/>
            <a:ext cx="7583488" cy="999567"/>
          </a:xfrm>
        </p:spPr>
        <p:txBody>
          <a:bodyPr/>
          <a:lstStyle/>
          <a:p>
            <a:r>
              <a:rPr lang="en-US" dirty="0"/>
              <a:t>Systems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2133600"/>
            <a:ext cx="7583488" cy="4007224"/>
          </a:xfrm>
        </p:spPr>
        <p:txBody>
          <a:bodyPr>
            <a:normAutofit/>
          </a:bodyPr>
          <a:lstStyle/>
          <a:p>
            <a:r>
              <a:rPr lang="en-US" sz="2400" dirty="0"/>
              <a:t>Ludwig von Bertalanffy (1936): General Systems Theory</a:t>
            </a:r>
          </a:p>
          <a:p>
            <a:r>
              <a:rPr lang="en-US" sz="2400" dirty="0"/>
              <a:t>Components of systems:</a:t>
            </a:r>
          </a:p>
          <a:p>
            <a:pPr lvl="1"/>
            <a:r>
              <a:rPr lang="en-US" sz="2400" dirty="0"/>
              <a:t>Input, </a:t>
            </a:r>
          </a:p>
          <a:p>
            <a:pPr lvl="1"/>
            <a:r>
              <a:rPr lang="en-US" sz="2400" dirty="0"/>
              <a:t>Throughput, </a:t>
            </a:r>
          </a:p>
          <a:p>
            <a:pPr lvl="1"/>
            <a:r>
              <a:rPr lang="en-US" sz="2400" dirty="0"/>
              <a:t>Output, </a:t>
            </a:r>
          </a:p>
          <a:p>
            <a:pPr lvl="1"/>
            <a:r>
              <a:rPr lang="en-US" sz="2400" dirty="0"/>
              <a:t>Evaluation, </a:t>
            </a:r>
          </a:p>
          <a:p>
            <a:pPr lvl="1"/>
            <a:r>
              <a:rPr lang="en-US" sz="2400" dirty="0"/>
              <a:t>Feedback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3014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95833"/>
            <a:ext cx="7829551" cy="999567"/>
          </a:xfrm>
        </p:spPr>
        <p:txBody>
          <a:bodyPr/>
          <a:lstStyle/>
          <a:p>
            <a:r>
              <a:rPr lang="en-US" dirty="0"/>
              <a:t>Types of Systems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905000"/>
            <a:ext cx="8305800" cy="445097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Open system:</a:t>
            </a:r>
          </a:p>
          <a:p>
            <a:pPr lvl="1"/>
            <a:r>
              <a:rPr lang="en-US" dirty="0"/>
              <a:t>An open system promotes the exchange of matter, energy, and information with other systems and the environment.</a:t>
            </a:r>
          </a:p>
          <a:p>
            <a:pPr marL="0" indent="0">
              <a:buNone/>
            </a:pPr>
            <a:r>
              <a:rPr lang="en-US" sz="2400" dirty="0"/>
              <a:t>Closed system:   </a:t>
            </a:r>
          </a:p>
          <a:p>
            <a:pPr lvl="1"/>
            <a:r>
              <a:rPr lang="en-US" dirty="0"/>
              <a:t>A closed system does not interact with other systems or with the surrounding environment.</a:t>
            </a:r>
          </a:p>
          <a:p>
            <a:pPr marL="0" indent="0">
              <a:buNone/>
            </a:pPr>
            <a:r>
              <a:rPr lang="en-US" sz="2400" dirty="0"/>
              <a:t>Sub-system:</a:t>
            </a:r>
          </a:p>
          <a:p>
            <a:pPr lvl="1"/>
            <a:r>
              <a:rPr lang="en-US" dirty="0"/>
              <a:t>System that is a part of a large system</a:t>
            </a:r>
          </a:p>
          <a:p>
            <a:pPr marL="0" indent="0">
              <a:buNone/>
            </a:pPr>
            <a:r>
              <a:rPr lang="en-US" sz="2400" dirty="0"/>
              <a:t>Supra-system:</a:t>
            </a:r>
          </a:p>
          <a:p>
            <a:pPr lvl="1"/>
            <a:r>
              <a:rPr lang="en-US" dirty="0"/>
              <a:t>The larger environment outside the system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58924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5833"/>
            <a:ext cx="7753351" cy="1075767"/>
          </a:xfrm>
        </p:spPr>
        <p:txBody>
          <a:bodyPr/>
          <a:lstStyle/>
          <a:p>
            <a:r>
              <a:rPr lang="en-US" dirty="0"/>
              <a:t>Characteristics of Systems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949824"/>
            <a:ext cx="8077200" cy="4603376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whole is different from and greater than the sum of its parts (its subsystems).</a:t>
            </a:r>
          </a:p>
          <a:p>
            <a:r>
              <a:rPr lang="en-US" dirty="0"/>
              <a:t>Synergy occurs when all the various subsystems work together to create a result that is not independently achievable. </a:t>
            </a:r>
          </a:p>
          <a:p>
            <a:r>
              <a:rPr lang="en-US" dirty="0"/>
              <a:t>A change in one part of the system creates change in other parts. </a:t>
            </a:r>
          </a:p>
          <a:p>
            <a:r>
              <a:rPr lang="en-US" dirty="0"/>
              <a:t>There is continuous exchange of energy and information </a:t>
            </a:r>
          </a:p>
          <a:p>
            <a:pPr lvl="1"/>
            <a:r>
              <a:rPr lang="en-US" dirty="0"/>
              <a:t>WITHIN open systems</a:t>
            </a:r>
          </a:p>
          <a:p>
            <a:pPr lvl="1"/>
            <a:r>
              <a:rPr lang="en-US" dirty="0"/>
              <a:t>BETWEEN open systems</a:t>
            </a:r>
          </a:p>
          <a:p>
            <a:pPr lvl="1"/>
            <a:r>
              <a:rPr lang="en-US" dirty="0"/>
              <a:t>Supra-systems </a:t>
            </a:r>
          </a:p>
          <a:p>
            <a:r>
              <a:rPr lang="en-US" dirty="0"/>
              <a:t>Dynamic balance within and between subsystems, systems, and supra-systems helps create and maintain homeostasis.  </a:t>
            </a:r>
          </a:p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5988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95833"/>
            <a:ext cx="7583488" cy="1075767"/>
          </a:xfrm>
        </p:spPr>
        <p:txBody>
          <a:bodyPr>
            <a:noAutofit/>
          </a:bodyPr>
          <a:lstStyle/>
          <a:p>
            <a:r>
              <a:rPr lang="en-US" dirty="0"/>
              <a:t>Key Concepts about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572000"/>
          </a:xfrm>
        </p:spPr>
        <p:txBody>
          <a:bodyPr>
            <a:noAutofit/>
          </a:bodyPr>
          <a:lstStyle/>
          <a:p>
            <a:r>
              <a:rPr lang="en-US" sz="2000" dirty="0"/>
              <a:t>A system is a set of interrelated parts.</a:t>
            </a:r>
          </a:p>
          <a:p>
            <a:r>
              <a:rPr lang="en-US" sz="2000" dirty="0"/>
              <a:t>The parts form a meaningful whole.</a:t>
            </a:r>
          </a:p>
          <a:p>
            <a:r>
              <a:rPr lang="en-US" sz="2000" dirty="0"/>
              <a:t>The whole is different from and greater than the sum of its parts.</a:t>
            </a:r>
          </a:p>
          <a:p>
            <a:r>
              <a:rPr lang="en-US" sz="2000" dirty="0"/>
              <a:t>Systems may be open or closed.</a:t>
            </a:r>
          </a:p>
          <a:p>
            <a:r>
              <a:rPr lang="en-US" sz="2000" dirty="0"/>
              <a:t>All living systems are open systems.</a:t>
            </a:r>
          </a:p>
          <a:p>
            <a:r>
              <a:rPr lang="en-US" sz="2000" dirty="0"/>
              <a:t>Systems strive for homeostasis (internal stability).</a:t>
            </a:r>
          </a:p>
          <a:p>
            <a:r>
              <a:rPr lang="en-US" sz="2000" dirty="0"/>
              <a:t>Systems are part of supra-systems.</a:t>
            </a:r>
          </a:p>
          <a:p>
            <a:r>
              <a:rPr lang="en-US" sz="2000" dirty="0"/>
              <a:t>Systems have subsystems.</a:t>
            </a:r>
          </a:p>
          <a:p>
            <a:r>
              <a:rPr lang="en-US" sz="2000" dirty="0"/>
              <a:t>A change in one part of a system creates change in other parts.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7416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Autofit/>
          </a:bodyPr>
          <a:lstStyle/>
          <a:p>
            <a:r>
              <a:rPr lang="en-US" dirty="0"/>
              <a:t>Fundamental Nursing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CONCEPT 1: Person: An open system with human needs</a:t>
            </a:r>
          </a:p>
          <a:p>
            <a:pPr lvl="1"/>
            <a:r>
              <a:rPr lang="en-US" sz="2400" dirty="0"/>
              <a:t>An individual</a:t>
            </a:r>
          </a:p>
          <a:p>
            <a:pPr lvl="1"/>
            <a:r>
              <a:rPr lang="en-US" sz="2400" dirty="0"/>
              <a:t>Each individual is an open system with numerous subsystems.</a:t>
            </a:r>
          </a:p>
          <a:p>
            <a:pPr lvl="1"/>
            <a:r>
              <a:rPr lang="en-US" sz="2400" dirty="0"/>
              <a:t>Each person is unique – determined genetically, environmentally, and experientially. </a:t>
            </a:r>
          </a:p>
          <a:p>
            <a:pPr marL="0" indent="0">
              <a:buNone/>
            </a:pPr>
            <a:r>
              <a:rPr lang="en-US" sz="2400" dirty="0"/>
              <a:t>Human needs – required for a person’s well-being</a:t>
            </a:r>
          </a:p>
          <a:p>
            <a:pPr lvl="1"/>
            <a:r>
              <a:rPr lang="en-US" sz="2400" dirty="0"/>
              <a:t>Maslow (1954) Motivation and Personality: Human behavior is motivated by intrinsic needs. He identified five level of needs.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78775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95833"/>
            <a:ext cx="7583488" cy="1075767"/>
          </a:xfrm>
        </p:spPr>
        <p:txBody>
          <a:bodyPr/>
          <a:lstStyle/>
          <a:p>
            <a:r>
              <a:rPr lang="en-US" dirty="0"/>
              <a:t>Maslow’s Hierarchy of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514350" indent="-514350">
              <a:buSzPct val="80000"/>
              <a:buFont typeface="+mj-lt"/>
              <a:buAutoNum type="romanUcPeriod"/>
            </a:pPr>
            <a:r>
              <a:rPr lang="en-US" dirty="0"/>
              <a:t>Physiologic needs – food, oxygen, rest, activity, shelter, and sexual expression</a:t>
            </a:r>
          </a:p>
          <a:p>
            <a:pPr marL="514350" indent="-514350">
              <a:buSzPct val="80000"/>
              <a:buFont typeface="+mj-lt"/>
              <a:buAutoNum type="romanUcPeriod"/>
            </a:pPr>
            <a:r>
              <a:rPr lang="en-US" dirty="0"/>
              <a:t>Physical and psychological safety and security – reasonably predictable environment with which one has some familiarity and relative freedom from fear and chaos</a:t>
            </a:r>
          </a:p>
          <a:p>
            <a:pPr marL="514350" indent="-514350">
              <a:buSzPct val="80000"/>
              <a:buFont typeface="+mj-lt"/>
              <a:buAutoNum type="romanUcPeriod"/>
            </a:pPr>
            <a:r>
              <a:rPr lang="en-US" dirty="0"/>
              <a:t>Love and belonging – close intimate relations, social relations, a place in the social structure    </a:t>
            </a:r>
          </a:p>
          <a:p>
            <a:pPr marL="514350" indent="-514350">
              <a:buSzPct val="80000"/>
              <a:buFont typeface="+mj-lt"/>
              <a:buAutoNum type="romanUcPeriod"/>
            </a:pPr>
            <a:r>
              <a:rPr lang="en-US" dirty="0"/>
              <a:t>Self-esteem – need to feel self-worth, self-respect, and self-reliance</a:t>
            </a:r>
          </a:p>
          <a:p>
            <a:pPr marL="514350" indent="-514350">
              <a:buSzPct val="80000"/>
              <a:buFont typeface="+mj-lt"/>
              <a:buAutoNum type="romanUcPeriod"/>
            </a:pPr>
            <a:r>
              <a:rPr lang="en-US" dirty="0"/>
              <a:t>Self actualization – realized maximum potential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071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"/>
            <a:ext cx="9144000" cy="6812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297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95833"/>
            <a:ext cx="8229599" cy="999567"/>
          </a:xfrm>
        </p:spPr>
        <p:txBody>
          <a:bodyPr>
            <a:noAutofit/>
          </a:bodyPr>
          <a:lstStyle/>
          <a:p>
            <a:r>
              <a:rPr lang="en-US" dirty="0"/>
              <a:t>Assumptions About Maslow’s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1949824"/>
            <a:ext cx="7754937" cy="4146176"/>
          </a:xfrm>
        </p:spPr>
        <p:txBody>
          <a:bodyPr>
            <a:normAutofit/>
          </a:bodyPr>
          <a:lstStyle/>
          <a:p>
            <a:r>
              <a:rPr lang="en-US" sz="2400" dirty="0"/>
              <a:t>Basic needs must be at least partially satisfied before higher-order needs can become relevant to the individual. </a:t>
            </a:r>
          </a:p>
          <a:p>
            <a:r>
              <a:rPr lang="en-US" sz="2400" dirty="0"/>
              <a:t>Individuals meet their needs in different ways.</a:t>
            </a:r>
          </a:p>
          <a:p>
            <a:r>
              <a:rPr lang="en-US" sz="2400" dirty="0"/>
              <a:t>The manner the needs are met and the extent by which these are considered needs vary according to each individual. </a:t>
            </a:r>
          </a:p>
          <a:p>
            <a:pPr lvl="1"/>
            <a:r>
              <a:rPr lang="en-US" sz="2400" dirty="0"/>
              <a:t>Individualized nursing care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6269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Adaptation and Human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Carl Rogers (1961) On becoming a Person</a:t>
            </a:r>
          </a:p>
          <a:p>
            <a:pPr lvl="1"/>
            <a:r>
              <a:rPr lang="en-US" sz="2400" dirty="0"/>
              <a:t>A person’s needs change as the person changes.</a:t>
            </a:r>
          </a:p>
          <a:p>
            <a:r>
              <a:rPr lang="en-US" sz="2400" dirty="0"/>
              <a:t>Concept of adaptation </a:t>
            </a:r>
          </a:p>
          <a:p>
            <a:pPr lvl="1"/>
            <a:r>
              <a:rPr lang="en-US" sz="2400" dirty="0"/>
              <a:t>People admitted in hospitals and removed from their usual environments commonly become anxious.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4543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95833"/>
            <a:ext cx="7583488" cy="999567"/>
          </a:xfrm>
        </p:spPr>
        <p:txBody>
          <a:bodyPr/>
          <a:lstStyle/>
          <a:p>
            <a:r>
              <a:rPr lang="en-US" dirty="0"/>
              <a:t>Homeostasis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382000" cy="4495800"/>
          </a:xfrm>
        </p:spPr>
        <p:txBody>
          <a:bodyPr>
            <a:normAutofit/>
          </a:bodyPr>
          <a:lstStyle/>
          <a:p>
            <a:r>
              <a:rPr lang="en-US" dirty="0"/>
              <a:t>Homeostasis is a dynamic balance achieved by effectively functioning open systems.</a:t>
            </a:r>
          </a:p>
          <a:p>
            <a:pPr lvl="1"/>
            <a:r>
              <a:rPr lang="en-US" dirty="0"/>
              <a:t>Homeostasis is attained by coordinated responses of organ systems that automatically compensate for environmental changes.</a:t>
            </a:r>
          </a:p>
          <a:p>
            <a:r>
              <a:rPr lang="en-US" dirty="0"/>
              <a:t>Individuals, as open systems, also endeavor to maintain balance between external and internal forces. </a:t>
            </a:r>
          </a:p>
          <a:p>
            <a:pPr lvl="1"/>
            <a:r>
              <a:rPr lang="en-US" dirty="0"/>
              <a:t>When balance is achieved, the person is healthy or is resistant to illness.</a:t>
            </a:r>
          </a:p>
          <a:p>
            <a:pPr lvl="1"/>
            <a:r>
              <a:rPr lang="en-US" dirty="0"/>
              <a:t>If adaptation is unsuccessful, disequilibrium may occur, setting the stage for the development of illness or disease. 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51000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44562"/>
          </a:xfrm>
        </p:spPr>
        <p:txBody>
          <a:bodyPr>
            <a:noAutofit/>
          </a:bodyPr>
          <a:lstStyle/>
          <a:p>
            <a:r>
              <a:rPr lang="en-US" dirty="0"/>
              <a:t>Fundamental Nursing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2973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CONCEPT 2: Environment: The supra-system in which a person lives in.</a:t>
            </a:r>
          </a:p>
          <a:p>
            <a:pPr lvl="1"/>
            <a:r>
              <a:rPr lang="en-US" sz="2400" dirty="0"/>
              <a:t>The environment can either promote or interfere with homeostasis and well-being of individuals.</a:t>
            </a:r>
          </a:p>
          <a:p>
            <a:pPr lvl="1"/>
            <a:r>
              <a:rPr lang="en-US" sz="2400" dirty="0"/>
              <a:t>In Maslow’s hierarchy of needs, there is a dynamic interaction between a person’s needs (internal) and the satisfaction of those needs (often environmentally determined).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86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95833"/>
            <a:ext cx="7583488" cy="999567"/>
          </a:xfrm>
        </p:spPr>
        <p:txBody>
          <a:bodyPr/>
          <a:lstStyle/>
          <a:p>
            <a:r>
              <a:rPr lang="en-US" dirty="0"/>
              <a:t>Environmental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62" y="1949824"/>
            <a:ext cx="7983538" cy="437477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Family system </a:t>
            </a:r>
          </a:p>
          <a:p>
            <a:pPr lvl="1"/>
            <a:r>
              <a:rPr lang="en-US" sz="2400" dirty="0"/>
              <a:t>Family defined</a:t>
            </a:r>
          </a:p>
          <a:p>
            <a:pPr lvl="1"/>
            <a:r>
              <a:rPr lang="en-US" sz="2400" dirty="0"/>
              <a:t>Nuclear and extended family</a:t>
            </a:r>
          </a:p>
          <a:p>
            <a:r>
              <a:rPr lang="en-US" sz="2600" dirty="0"/>
              <a:t>Cultural systems</a:t>
            </a:r>
          </a:p>
          <a:p>
            <a:r>
              <a:rPr lang="en-US" sz="2600" dirty="0"/>
              <a:t>Social systems:</a:t>
            </a:r>
          </a:p>
          <a:p>
            <a:pPr lvl="1"/>
            <a:r>
              <a:rPr lang="en-US" sz="2200" dirty="0"/>
              <a:t>Communities</a:t>
            </a:r>
          </a:p>
          <a:p>
            <a:pPr lvl="1"/>
            <a:r>
              <a:rPr lang="en-US" sz="2200" dirty="0"/>
              <a:t>States</a:t>
            </a:r>
          </a:p>
          <a:p>
            <a:pPr lvl="1"/>
            <a:r>
              <a:rPr lang="en-US" sz="2200" dirty="0"/>
              <a:t>Nations</a:t>
            </a:r>
          </a:p>
          <a:p>
            <a:pPr lvl="1"/>
            <a:r>
              <a:rPr lang="en-US" sz="2200" dirty="0"/>
              <a:t>Supra-national </a:t>
            </a:r>
          </a:p>
          <a:p>
            <a:pPr lvl="1"/>
            <a:r>
              <a:rPr lang="en-US" sz="2200" dirty="0"/>
              <a:t>International</a:t>
            </a:r>
          </a:p>
          <a:p>
            <a:endParaRPr lang="en-US" sz="2600" dirty="0"/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829492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Environmental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Nurses’ potential impact on the environment/supra-system</a:t>
            </a:r>
          </a:p>
          <a:p>
            <a:pPr lvl="1"/>
            <a:r>
              <a:rPr lang="en-US" sz="2400" dirty="0"/>
              <a:t>Ecological health</a:t>
            </a:r>
          </a:p>
          <a:p>
            <a:pPr lvl="1"/>
            <a:r>
              <a:rPr lang="en-US" sz="2400" dirty="0"/>
              <a:t>Healthy work environments </a:t>
            </a:r>
          </a:p>
          <a:p>
            <a:pPr lvl="1"/>
            <a:r>
              <a:rPr lang="en-US" sz="2400" dirty="0"/>
              <a:t>WHO training modules including mercury poisoning </a:t>
            </a:r>
          </a:p>
          <a:p>
            <a:pPr lvl="1"/>
            <a:r>
              <a:rPr lang="en-US" sz="2400" dirty="0"/>
              <a:t>Health Care Without Harm to reduce hazardous waste</a:t>
            </a:r>
          </a:p>
          <a:p>
            <a:pPr lvl="1"/>
            <a:r>
              <a:rPr lang="en-US" sz="2400" dirty="0"/>
              <a:t>Luminary Project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16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153400" cy="944562"/>
          </a:xfrm>
        </p:spPr>
        <p:txBody>
          <a:bodyPr>
            <a:noAutofit/>
          </a:bodyPr>
          <a:lstStyle/>
          <a:p>
            <a:r>
              <a:rPr lang="en-US" dirty="0"/>
              <a:t>Fundamental Nursing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4343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CONCEPT 3: Health as  a  continuum</a:t>
            </a:r>
          </a:p>
          <a:p>
            <a:r>
              <a:rPr lang="en-US" sz="2400" dirty="0"/>
              <a:t>Definition vary</a:t>
            </a:r>
          </a:p>
          <a:p>
            <a:r>
              <a:rPr lang="en-US" sz="2400" dirty="0"/>
              <a:t>Health beliefs models:</a:t>
            </a:r>
          </a:p>
          <a:p>
            <a:pPr lvl="2"/>
            <a:r>
              <a:rPr lang="en-US" sz="2200" dirty="0" err="1"/>
              <a:t>Rosenstock’s</a:t>
            </a:r>
            <a:r>
              <a:rPr lang="en-US" sz="2200" dirty="0"/>
              <a:t> Health Beliefs Model</a:t>
            </a:r>
          </a:p>
          <a:p>
            <a:pPr lvl="2"/>
            <a:r>
              <a:rPr lang="en-US" sz="2200" dirty="0"/>
              <a:t>Bandura’s Theory of Self-efficacy</a:t>
            </a:r>
          </a:p>
          <a:p>
            <a:r>
              <a:rPr lang="en-US" sz="2400" dirty="0"/>
              <a:t>Locus of control :</a:t>
            </a:r>
          </a:p>
          <a:p>
            <a:pPr lvl="2"/>
            <a:r>
              <a:rPr lang="en-US" sz="2200" dirty="0"/>
              <a:t>Internal locus of control</a:t>
            </a:r>
          </a:p>
          <a:p>
            <a:pPr lvl="2"/>
            <a:r>
              <a:rPr lang="en-US" sz="2200" dirty="0"/>
              <a:t>External locus of control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44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4638"/>
            <a:ext cx="8153400" cy="944562"/>
          </a:xfrm>
        </p:spPr>
        <p:txBody>
          <a:bodyPr>
            <a:noAutofit/>
          </a:bodyPr>
          <a:lstStyle/>
          <a:p>
            <a:r>
              <a:rPr lang="en-US" dirty="0"/>
              <a:t>Health as a Continuum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rcRect l="-1662" r="-1662"/>
          <a:stretch>
            <a:fillRect/>
          </a:stretch>
        </p:blipFill>
        <p:spPr>
          <a:xfrm>
            <a:off x="457200" y="1828800"/>
            <a:ext cx="8229600" cy="4648200"/>
          </a:xfr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2620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833"/>
            <a:ext cx="8153400" cy="923367"/>
          </a:xfrm>
        </p:spPr>
        <p:txBody>
          <a:bodyPr>
            <a:noAutofit/>
          </a:bodyPr>
          <a:lstStyle/>
          <a:p>
            <a:r>
              <a:rPr lang="en-US" dirty="0"/>
              <a:t>Nursing: Forming the Meaningful Whole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8610599" cy="49530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Holistic nursing care nourishes the whole person – the body, mind, and spirit.</a:t>
            </a:r>
          </a:p>
          <a:p>
            <a:pPr marL="349250" lvl="1" indent="0">
              <a:buNone/>
            </a:pPr>
            <a:r>
              <a:rPr lang="en-US" dirty="0"/>
              <a:t>Eight factors contribute to holistic approach to nursing</a:t>
            </a:r>
          </a:p>
          <a:p>
            <a:pPr marL="863600" lvl="1" indent="-349250">
              <a:buFont typeface="+mj-lt"/>
              <a:buAutoNum type="arabicPeriod"/>
            </a:pPr>
            <a:r>
              <a:rPr lang="en-US" dirty="0"/>
              <a:t>Nursing is an open system </a:t>
            </a:r>
          </a:p>
          <a:p>
            <a:pPr marL="863600" lvl="1" indent="-349250">
              <a:buFont typeface="+mj-lt"/>
              <a:buAutoNum type="arabicPeriod"/>
            </a:pPr>
            <a:r>
              <a:rPr lang="en-US" dirty="0"/>
              <a:t>Nursing is the provision of health care services </a:t>
            </a:r>
          </a:p>
          <a:p>
            <a:pPr marL="863600" lvl="1" indent="-349250">
              <a:buFont typeface="+mj-lt"/>
              <a:buAutoNum type="arabicPeriod"/>
            </a:pPr>
            <a:r>
              <a:rPr lang="en-US" dirty="0"/>
              <a:t>Nursing involves collaborating with patients and their families </a:t>
            </a:r>
          </a:p>
          <a:p>
            <a:pPr marL="863600" lvl="1" indent="-349250">
              <a:buFont typeface="+mj-lt"/>
              <a:buAutoNum type="arabicPeriod"/>
            </a:pPr>
            <a:r>
              <a:rPr lang="en-US" dirty="0"/>
              <a:t>Nursing is integrally involved with people </a:t>
            </a:r>
          </a:p>
          <a:p>
            <a:pPr marL="863600" lvl="1" indent="-349250">
              <a:buFont typeface="+mj-lt"/>
              <a:buAutoNum type="arabicPeriod"/>
            </a:pPr>
            <a:r>
              <a:rPr lang="en-US" dirty="0"/>
              <a:t>Nursing care is provided regardless of diagnosis, individual differences, age, beliefs, gender, sexual orientation, or other factors. </a:t>
            </a:r>
          </a:p>
          <a:p>
            <a:pPr marL="863600" lvl="1" indent="-349250">
              <a:buFont typeface="+mj-lt"/>
              <a:buAutoNum type="arabicPeriod"/>
            </a:pPr>
            <a:r>
              <a:rPr lang="en-US" dirty="0"/>
              <a:t>Nurses require advanced knowledge and skills</a:t>
            </a:r>
          </a:p>
          <a:p>
            <a:pPr marL="863600" lvl="1" indent="-349250">
              <a:buFont typeface="+mj-lt"/>
              <a:buAutoNum type="arabicPeriod"/>
            </a:pPr>
            <a:r>
              <a:rPr lang="en-US" dirty="0"/>
              <a:t>Nursing requires concern, compassion, respect, and warmth, as well as comprehensive, individualized planning of care, to facilitate patients’ growth toward wellness.</a:t>
            </a:r>
          </a:p>
          <a:p>
            <a:pPr marL="863600" lvl="1" indent="-349250">
              <a:buFont typeface="+mj-lt"/>
              <a:buAutoNum type="arabicPeriod"/>
            </a:pPr>
            <a:r>
              <a:rPr lang="en-US" dirty="0"/>
              <a:t>Nursing links theory and research </a:t>
            </a:r>
          </a:p>
          <a:p>
            <a:pPr lvl="2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9480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9463" y="295833"/>
            <a:ext cx="7583488" cy="1075767"/>
          </a:xfrm>
        </p:spPr>
        <p:txBody>
          <a:bodyPr/>
          <a:lstStyle/>
          <a:p>
            <a:r>
              <a:rPr lang="en-US" dirty="0"/>
              <a:t>Beliefs Guiding Nursing Behaviors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49824"/>
            <a:ext cx="8000999" cy="4527176"/>
          </a:xfrm>
        </p:spPr>
        <p:txBody>
          <a:bodyPr>
            <a:normAutofit/>
          </a:bodyPr>
          <a:lstStyle/>
          <a:p>
            <a:r>
              <a:rPr lang="en-US" sz="2400" dirty="0"/>
              <a:t>Beliefs:</a:t>
            </a:r>
          </a:p>
          <a:p>
            <a:pPr lvl="1"/>
            <a:r>
              <a:rPr lang="en-US" dirty="0"/>
              <a:t>What are beliefs?</a:t>
            </a:r>
          </a:p>
          <a:p>
            <a:pPr lvl="1"/>
            <a:r>
              <a:rPr lang="en-US" dirty="0"/>
              <a:t>Attitudes and behaviors </a:t>
            </a:r>
          </a:p>
          <a:p>
            <a:r>
              <a:rPr lang="en-US" sz="2400" dirty="0"/>
              <a:t>Belief systems – serve to guide thinking and decision-making</a:t>
            </a:r>
          </a:p>
          <a:p>
            <a:r>
              <a:rPr lang="en-US" sz="2400" dirty="0"/>
              <a:t>Types:</a:t>
            </a:r>
          </a:p>
          <a:p>
            <a:pPr lvl="1"/>
            <a:r>
              <a:rPr lang="en-US" dirty="0"/>
              <a:t>Descriptive or existential beliefs </a:t>
            </a:r>
          </a:p>
          <a:p>
            <a:pPr lvl="1"/>
            <a:r>
              <a:rPr lang="en-US" dirty="0"/>
              <a:t>Evaluative beliefs </a:t>
            </a:r>
          </a:p>
          <a:p>
            <a:pPr lvl="1"/>
            <a:r>
              <a:rPr lang="en-US" dirty="0"/>
              <a:t>Prescriptive (encouraged) and proscriptive (prohibited) beliefs 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3939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Values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949824"/>
            <a:ext cx="8534400" cy="4603376"/>
          </a:xfrm>
        </p:spPr>
        <p:txBody>
          <a:bodyPr/>
          <a:lstStyle/>
          <a:p>
            <a:pPr>
              <a:spcBef>
                <a:spcPts val="0"/>
              </a:spcBef>
              <a:defRPr/>
            </a:pPr>
            <a:r>
              <a:rPr lang="en-US" dirty="0"/>
              <a:t>Freely chosen principles, ideals, or standards held by an individual, class, or group that give meaning and direction to life. </a:t>
            </a:r>
          </a:p>
          <a:p>
            <a:pPr marL="0" indent="0">
              <a:spcBef>
                <a:spcPts val="0"/>
              </a:spcBef>
              <a:buNone/>
              <a:defRPr/>
            </a:pPr>
            <a:endParaRPr lang="en-US" dirty="0"/>
          </a:p>
          <a:p>
            <a:pPr>
              <a:spcBef>
                <a:spcPts val="0"/>
              </a:spcBef>
              <a:defRPr/>
            </a:pPr>
            <a:r>
              <a:rPr lang="en-US" dirty="0"/>
              <a:t>Abstract representation of what is right, worthwhile, or </a:t>
            </a:r>
            <a:r>
              <a:rPr lang="en-US"/>
              <a:t>desirable.</a:t>
            </a:r>
          </a:p>
          <a:p>
            <a:pPr marL="0" indent="0">
              <a:spcBef>
                <a:spcPts val="0"/>
              </a:spcBef>
              <a:buNone/>
              <a:defRPr/>
            </a:pPr>
            <a:r>
              <a:rPr lang="en-US"/>
              <a:t> </a:t>
            </a:r>
            <a:endParaRPr lang="en-US" dirty="0"/>
          </a:p>
          <a:p>
            <a:pPr>
              <a:spcBef>
                <a:spcPts val="0"/>
              </a:spcBef>
              <a:defRPr/>
            </a:pPr>
            <a:r>
              <a:rPr lang="en-US" dirty="0"/>
              <a:t>Relatively stable and resistant to change.</a:t>
            </a:r>
          </a:p>
          <a:p>
            <a:pPr marL="0" indent="0">
              <a:buNone/>
            </a:pPr>
            <a:r>
              <a:rPr lang="en-US" dirty="0"/>
              <a:t>Three Steps in Valuing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Choosing is the cognitive (intellectual) aspect of valuing.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Prizing is the affective (emotional) aspect of valuing.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Acting is the kinesthetic (behavioral) aspect of valuing.</a:t>
            </a:r>
          </a:p>
          <a:p>
            <a:pPr marL="400050"/>
            <a:r>
              <a:rPr lang="en-US" dirty="0"/>
              <a:t>All three steps must be taken or the process of valuing is incomplete.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23550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95833"/>
            <a:ext cx="7753351" cy="1075767"/>
          </a:xfrm>
        </p:spPr>
        <p:txBody>
          <a:bodyPr/>
          <a:lstStyle/>
          <a:p>
            <a:r>
              <a:rPr lang="en-US" dirty="0"/>
              <a:t>Values Clarification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828800"/>
            <a:ext cx="8229600" cy="46481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Identify some of your nursing values based on reactions to these statements.</a:t>
            </a:r>
          </a:p>
          <a:p>
            <a:r>
              <a:rPr lang="en-US" dirty="0"/>
              <a:t>Patients should always be told the truth about their diagnoses.</a:t>
            </a:r>
          </a:p>
          <a:p>
            <a:r>
              <a:rPr lang="en-US" dirty="0"/>
              <a:t>Nurses, if asked, should assist terminally ill patients to die.</a:t>
            </a:r>
          </a:p>
          <a:p>
            <a:r>
              <a:rPr lang="en-US" dirty="0"/>
              <a:t>Severely impaired infants should be kept alive, regardless of their future quality of life.</a:t>
            </a:r>
          </a:p>
          <a:p>
            <a:r>
              <a:rPr lang="en-US" dirty="0"/>
              <a:t>Nurses should never accept gifts from patients.</a:t>
            </a:r>
          </a:p>
          <a:p>
            <a:r>
              <a:rPr lang="en-US" dirty="0"/>
              <a:t>A college professor should receive a heart transplant before a homeless person does.</a:t>
            </a:r>
          </a:p>
          <a:p>
            <a:r>
              <a:rPr lang="en-US" dirty="0"/>
              <a:t>Nurses should be role models of healthy behavior.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DECB8-B2AB-4217-BB8D-B4B27DCE6EFE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5122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xel">
  <a:themeElements>
    <a:clrScheme name="Pixel">
      <a:dk1>
        <a:srgbClr val="103154"/>
      </a:dk1>
      <a:lt1>
        <a:srgbClr val="FFFFFF"/>
      </a:lt1>
      <a:dk2>
        <a:srgbClr val="00BFC3"/>
      </a:dk2>
      <a:lt2>
        <a:srgbClr val="0096FF"/>
      </a:lt2>
      <a:accent1>
        <a:srgbClr val="FF7F01"/>
      </a:accent1>
      <a:accent2>
        <a:srgbClr val="F1B015"/>
      </a:accent2>
      <a:accent3>
        <a:srgbClr val="FBEC85"/>
      </a:accent3>
      <a:accent4>
        <a:srgbClr val="D2C2F1"/>
      </a:accent4>
      <a:accent5>
        <a:srgbClr val="DA5AF4"/>
      </a:accent5>
      <a:accent6>
        <a:srgbClr val="9D09D1"/>
      </a:accent6>
      <a:hlink>
        <a:srgbClr val="1286C9"/>
      </a:hlink>
      <a:folHlink>
        <a:srgbClr val="A8C2E7"/>
      </a:folHlink>
    </a:clrScheme>
    <a:fontScheme name="Pixel">
      <a:majorFont>
        <a:latin typeface="Corbel"/>
        <a:ea typeface=""/>
        <a:cs typeface=""/>
        <a:font script="Jpan" typeface="メイリオ"/>
        <a:font script="Hans" typeface="宋体"/>
        <a:font script="Hant" typeface="新細明體"/>
      </a:majorFont>
      <a:minorFont>
        <a:latin typeface="Corbel"/>
        <a:ea typeface=""/>
        <a:cs typeface=""/>
        <a:font script="Jpan" typeface="メイリオ"/>
        <a:font script="Hans" typeface="宋体"/>
        <a:font script="Hant" typeface="新細明體"/>
      </a:minorFont>
    </a:fontScheme>
    <a:fmtScheme name="Pixel">
      <a:fillStyleLst>
        <a:solidFill>
          <a:schemeClr val="phClr"/>
        </a:solidFill>
        <a:solidFill>
          <a:schemeClr val="phClr">
            <a:satMod val="150000"/>
          </a:schemeClr>
        </a:solidFill>
        <a:solidFill>
          <a:schemeClr val="phClr">
            <a:shade val="80000"/>
            <a:lumMod val="90000"/>
          </a:schemeClr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>
              <a:alpha val="8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63500" dir="2700000" sx="102000" sy="102000" rotWithShape="0">
              <a:srgbClr val="000000">
                <a:alpha val="50000"/>
              </a:srgbClr>
            </a:outerShdw>
          </a:effectLst>
          <a:scene3d>
            <a:camera prst="orthographicFront">
              <a:rot lat="0" lon="0" rev="0"/>
            </a:camera>
            <a:lightRig rig="glow" dir="tl"/>
          </a:scene3d>
          <a:sp3d>
            <a:bevelT w="0" h="0"/>
          </a:sp3d>
        </a:effectStyle>
        <a:effectStyle>
          <a:effectLst>
            <a:outerShdw blurRad="63500" dist="38100" dir="3600000" sx="103000" sy="103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5400000"/>
            </a:lightRig>
          </a:scene3d>
          <a:sp3d prstMaterial="softmetal">
            <a:bevelT w="635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95000"/>
                <a:satMod val="350000"/>
              </a:schemeClr>
            </a:gs>
            <a:gs pos="100000">
              <a:schemeClr val="phClr">
                <a:shade val="20000"/>
                <a:satMod val="15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1000"/>
                <a:satMod val="400000"/>
              </a:schemeClr>
              <a:schemeClr val="phClr">
                <a:tint val="50000"/>
                <a:satMod val="450000"/>
              </a:schemeClr>
            </a:duotone>
          </a:blip>
          <a:stretch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Pixel.thmx</Template>
  <TotalTime>570</TotalTime>
  <Words>2417</Words>
  <Application>Microsoft Office PowerPoint</Application>
  <PresentationFormat>On-screen Show (4:3)</PresentationFormat>
  <Paragraphs>361</Paragraphs>
  <Slides>41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Corbel</vt:lpstr>
      <vt:lpstr>Times New Roman</vt:lpstr>
      <vt:lpstr>Wingdings 2</vt:lpstr>
      <vt:lpstr>Pixel</vt:lpstr>
      <vt:lpstr>Professionalism and Education / Conceptual and Philosophical Basis of Nursing</vt:lpstr>
      <vt:lpstr>PowerPoint Presentation</vt:lpstr>
      <vt:lpstr>Occupation vs. Profession</vt:lpstr>
      <vt:lpstr>Eight Characteristics of a Profession (Kelly, 1981) </vt:lpstr>
      <vt:lpstr>Eight Characteristics of a Profession</vt:lpstr>
      <vt:lpstr>Eight Characteristics of a Profession</vt:lpstr>
      <vt:lpstr>Eight Characteristics of a Profession</vt:lpstr>
      <vt:lpstr>Eight Characteristics of a Profession</vt:lpstr>
      <vt:lpstr>Eight Characteristics of a Profession</vt:lpstr>
      <vt:lpstr>Eight Characteristics of a Profession</vt:lpstr>
      <vt:lpstr>Eight Characteristics of a Profession </vt:lpstr>
      <vt:lpstr>Barriers to Professionalism in Nursing</vt:lpstr>
      <vt:lpstr>Types of RN Education Programs</vt:lpstr>
      <vt:lpstr>Diploma Nursing Programs</vt:lpstr>
      <vt:lpstr>Baccalaureate Programs </vt:lpstr>
      <vt:lpstr>Associate Degree Programs </vt:lpstr>
      <vt:lpstr>Articulated Programs</vt:lpstr>
      <vt:lpstr>RN to BSN and Graduate Entry Programs</vt:lpstr>
      <vt:lpstr>Accreditation: Ensuring Quality Education</vt:lpstr>
      <vt:lpstr>Advance Practice Degrees: MSN</vt:lpstr>
      <vt:lpstr>Advance Practice Degrees: Doctorate</vt:lpstr>
      <vt:lpstr>Conceptual and Philosophical Basis of Nursing</vt:lpstr>
      <vt:lpstr>Systems Theory</vt:lpstr>
      <vt:lpstr>Types of Systems </vt:lpstr>
      <vt:lpstr>Characteristics of Systems </vt:lpstr>
      <vt:lpstr>Key Concepts about Systems</vt:lpstr>
      <vt:lpstr>Fundamental Nursing Concepts</vt:lpstr>
      <vt:lpstr>Maslow’s Hierarchy of Needs</vt:lpstr>
      <vt:lpstr>PowerPoint Presentation</vt:lpstr>
      <vt:lpstr>Assumptions About Maslow’s Hierarchy</vt:lpstr>
      <vt:lpstr>Adaptation and Human Needs</vt:lpstr>
      <vt:lpstr>Homeostasis</vt:lpstr>
      <vt:lpstr>Fundamental Nursing Concepts</vt:lpstr>
      <vt:lpstr>Environmental Systems</vt:lpstr>
      <vt:lpstr>Environmental Systems</vt:lpstr>
      <vt:lpstr>Fundamental Nursing Concepts</vt:lpstr>
      <vt:lpstr>Health as a Continuum</vt:lpstr>
      <vt:lpstr>Nursing: Forming the Meaningful Whole</vt:lpstr>
      <vt:lpstr>Beliefs Guiding Nursing Behaviors </vt:lpstr>
      <vt:lpstr>Values </vt:lpstr>
      <vt:lpstr>Values Clarification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lmanalo</dc:creator>
  <cp:lastModifiedBy>Catherine Hrycyk</cp:lastModifiedBy>
  <cp:revision>103</cp:revision>
  <dcterms:created xsi:type="dcterms:W3CDTF">2015-11-16T20:13:59Z</dcterms:created>
  <dcterms:modified xsi:type="dcterms:W3CDTF">2018-05-20T02:37:08Z</dcterms:modified>
</cp:coreProperties>
</file>